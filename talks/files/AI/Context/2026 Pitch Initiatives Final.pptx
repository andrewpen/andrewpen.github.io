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5" r:id="rId5"/>
    <p:sldMasterId id="214748371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Verizon NHG TX"/>
      <p:regular r:id="rId28"/>
      <p:bold r:id="rId29"/>
      <p:italic r:id="rId30"/>
      <p:boldItalic r:id="rId31"/>
    </p:embeddedFont>
    <p:embeddedFont>
      <p:font typeface="Quattrocento Sans"/>
      <p:regular r:id="rId32"/>
      <p:bold r:id="rId33"/>
      <p:italic r:id="rId34"/>
      <p:boldItalic r:id="rId35"/>
    </p:embeddedFont>
    <p:embeddedFont>
      <p:font typeface="Verizon NHG D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AE7D56-3E42-4067-AACA-77C4D7927B7B}">
  <a:tblStyle styleId="{08AE7D56-3E42-4067-AACA-77C4D7927B7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VerizonNHGTX-boldItalic.fntdata"/><Relationship Id="rId30" Type="http://schemas.openxmlformats.org/officeDocument/2006/relationships/font" Target="fonts/VerizonNHGTX-italic.fntdata"/><Relationship Id="rId33" Type="http://schemas.openxmlformats.org/officeDocument/2006/relationships/font" Target="fonts/QuattrocentoSans-bold.fntdata"/><Relationship Id="rId32" Type="http://schemas.openxmlformats.org/officeDocument/2006/relationships/font" Target="fonts/QuattrocentoSans-regular.fntdata"/><Relationship Id="rId35" Type="http://schemas.openxmlformats.org/officeDocument/2006/relationships/font" Target="fonts/QuattrocentoSans-boldItalic.fntdata"/><Relationship Id="rId34" Type="http://schemas.openxmlformats.org/officeDocument/2006/relationships/font" Target="fonts/QuattrocentoSans-italic.fntdata"/><Relationship Id="rId37" Type="http://schemas.openxmlformats.org/officeDocument/2006/relationships/font" Target="fonts/VerizonNHGDS-bold.fntdata"/><Relationship Id="rId36" Type="http://schemas.openxmlformats.org/officeDocument/2006/relationships/font" Target="fonts/VerizonNHGDS-regular.fntdata"/><Relationship Id="rId39" Type="http://schemas.openxmlformats.org/officeDocument/2006/relationships/font" Target="fonts/VerizonNHGDS-boldItalic.fntdata"/><Relationship Id="rId38" Type="http://schemas.openxmlformats.org/officeDocument/2006/relationships/font" Target="fonts/VerizonNHGDS-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VerizonNHGTX-regular.fntdata"/><Relationship Id="rId27" Type="http://schemas.openxmlformats.org/officeDocument/2006/relationships/slide" Target="slides/slide20.xml"/><Relationship Id="rId29" Type="http://schemas.openxmlformats.org/officeDocument/2006/relationships/font" Target="fonts/VerizonNHGTX-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5ae7b9ae87_0_19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5ae7b9ae87_0_196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5ae7b9ae87_0_196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ae7b9ae87_0_19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5ae7b9ae87_0_19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5ae7b9ae87_0_19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5ae7b9ae87_0_2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5ae7b9ae87_0_2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5ae7b9ae87_0_20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35ae7b9ae87_0_20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g35ae7b9ae87_0_204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5ae7b9ae87_0_20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35ae7b9ae87_0_20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 name="Google Shape;488;g35ae7b9ae87_0_205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5ae7b9ae87_0_3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g35ae7b9ae87_0_31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3" name="Google Shape;503;g35ae7b9ae87_0_314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ae7b9ae87_0_3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35ae7b9ae87_0_3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35ae7b9ae87_0_3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5ae7b9ae87_0_3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5ae7b9ae87_0_3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5ae7b9ae87_0_3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5ae7b9ae87_0_32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8" name="Google Shape;578;g35ae7b9ae87_0_322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5ae7b9ae87_0_3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35ae7b9ae87_0_32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594" name="Google Shape;594;g35ae7b9ae87_0_32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5ae7b9ae87_0_27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g35ae7b9ae87_0_27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g35ae7b9ae87_0_27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5ae7b9ae87_0_27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5ae7b9ae87_0_27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g35ae7b9ae87_0_27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5ae7b9ae87_0_2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5ae7b9ae87_0_2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5ae7b9ae87_0_2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g35ae7b9ae87_0_280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4" name="Google Shape;684;g35ae7b9ae87_0_280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5ae7b9ae87_0_2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9" name="Google Shape;699;g35ae7b9ae87_0_28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700" name="Google Shape;700;g35ae7b9ae87_0_282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5ae7b9ae87_0_35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4" name="Google Shape;714;g35ae7b9ae87_0_356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5" name="Google Shape;715;g35ae7b9ae87_0_356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5ae7b9ae87_0_35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g35ae7b9ae87_0_35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g35ae7b9ae87_0_35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5ae7b9ae87_0_3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5ae7b9ae87_0_3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5ae7b9ae87_0_36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7" name="Google Shape;787;g35ae7b9ae87_0_363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8" name="Google Shape;788;g35ae7b9ae87_0_363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5ae7b9ae87_0_3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3" name="Google Shape;803;g35ae7b9ae87_0_364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4" name="Google Shape;804;g35ae7b9ae87_0_36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52" name="Google Shape;52;p13"/>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 name="Google Shape;53;p13"/>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54" name="Google Shape;54;p13"/>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55"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ph idx="12" type="sldNum"/>
          </p:nvPr>
        </p:nvSpPr>
        <p:spPr>
          <a:xfrm>
            <a:off x="8317509" y="4725915"/>
            <a:ext cx="352500" cy="1539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5"/>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1200"/>
              </a:spcBef>
              <a:spcAft>
                <a:spcPts val="0"/>
              </a:spcAft>
              <a:buClr>
                <a:schemeClr val="dk1"/>
              </a:buClr>
              <a:buSzPts val="900"/>
              <a:buNone/>
              <a:defRPr/>
            </a:lvl2pPr>
            <a:lvl3pPr indent="-285750" lvl="2" marL="1371600" algn="l">
              <a:lnSpc>
                <a:spcPct val="100000"/>
              </a:lnSpc>
              <a:spcBef>
                <a:spcPts val="1200"/>
              </a:spcBef>
              <a:spcAft>
                <a:spcPts val="0"/>
              </a:spcAft>
              <a:buClr>
                <a:schemeClr val="dk1"/>
              </a:buClr>
              <a:buSzPts val="900"/>
              <a:buChar char="•"/>
              <a:defRPr/>
            </a:lvl3pPr>
            <a:lvl4pPr indent="-285750" lvl="3" marL="1828800" algn="l">
              <a:lnSpc>
                <a:spcPct val="100000"/>
              </a:lnSpc>
              <a:spcBef>
                <a:spcPts val="1200"/>
              </a:spcBef>
              <a:spcAft>
                <a:spcPts val="0"/>
              </a:spcAft>
              <a:buClr>
                <a:schemeClr val="dk1"/>
              </a:buClr>
              <a:buSzPts val="900"/>
              <a:buChar char="-"/>
              <a:defRPr/>
            </a:lvl4pPr>
            <a:lvl5pPr indent="-285750" lvl="4" marL="2286000" algn="l">
              <a:lnSpc>
                <a:spcPct val="100000"/>
              </a:lnSpc>
              <a:spcBef>
                <a:spcPts val="1200"/>
              </a:spcBef>
              <a:spcAft>
                <a:spcPts val="0"/>
              </a:spcAft>
              <a:buClr>
                <a:schemeClr val="dk1"/>
              </a:buClr>
              <a:buSzPts val="900"/>
              <a:buChar char="-"/>
              <a:defRPr/>
            </a:lvl5pPr>
            <a:lvl6pPr indent="-285750" lvl="5" marL="2743200" algn="l">
              <a:lnSpc>
                <a:spcPct val="90000"/>
              </a:lnSpc>
              <a:spcBef>
                <a:spcPts val="1200"/>
              </a:spcBef>
              <a:spcAft>
                <a:spcPts val="0"/>
              </a:spcAft>
              <a:buClr>
                <a:schemeClr val="dk1"/>
              </a:buClr>
              <a:buSzPts val="900"/>
              <a:buChar char="-"/>
              <a:defRPr sz="900"/>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9" name="Google Shape;59;p1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1200"/>
              </a:spcBef>
              <a:spcAft>
                <a:spcPts val="0"/>
              </a:spcAft>
              <a:buClr>
                <a:schemeClr val="lt1"/>
              </a:buClr>
              <a:buSzPts val="900"/>
              <a:buNone/>
              <a:defRPr>
                <a:solidFill>
                  <a:schemeClr val="lt1"/>
                </a:solidFill>
              </a:defRPr>
            </a:lvl2pPr>
            <a:lvl3pPr indent="-228600" lvl="2" marL="1371600" algn="l">
              <a:lnSpc>
                <a:spcPct val="100000"/>
              </a:lnSpc>
              <a:spcBef>
                <a:spcPts val="1200"/>
              </a:spcBef>
              <a:spcAft>
                <a:spcPts val="0"/>
              </a:spcAft>
              <a:buClr>
                <a:schemeClr val="lt1"/>
              </a:buClr>
              <a:buSzPts val="900"/>
              <a:buNone/>
              <a:defRPr>
                <a:solidFill>
                  <a:schemeClr val="lt1"/>
                </a:solidFill>
              </a:defRPr>
            </a:lvl3pPr>
            <a:lvl4pPr indent="-228600" lvl="3" marL="1828800" algn="l">
              <a:lnSpc>
                <a:spcPct val="100000"/>
              </a:lnSpc>
              <a:spcBef>
                <a:spcPts val="1200"/>
              </a:spcBef>
              <a:spcAft>
                <a:spcPts val="0"/>
              </a:spcAft>
              <a:buClr>
                <a:schemeClr val="lt1"/>
              </a:buClr>
              <a:buSzPts val="900"/>
              <a:buNone/>
              <a:defRPr>
                <a:solidFill>
                  <a:schemeClr val="lt1"/>
                </a:solidFill>
              </a:defRPr>
            </a:lvl4pPr>
            <a:lvl5pPr indent="-228600" lvl="4" marL="2286000" algn="l">
              <a:lnSpc>
                <a:spcPct val="100000"/>
              </a:lnSpc>
              <a:spcBef>
                <a:spcPts val="1200"/>
              </a:spcBef>
              <a:spcAft>
                <a:spcPts val="0"/>
              </a:spcAft>
              <a:buClr>
                <a:schemeClr val="lt1"/>
              </a:buClr>
              <a:buSzPts val="900"/>
              <a:buNone/>
              <a:defRPr>
                <a:solidFill>
                  <a:schemeClr val="lt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0" name="Google Shape;60;p1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61" name="Shape 61"/>
        <p:cNvGrpSpPr/>
        <p:nvPr/>
      </p:nvGrpSpPr>
      <p:grpSpPr>
        <a:xfrm>
          <a:off x="0" y="0"/>
          <a:ext cx="0" cy="0"/>
          <a:chOff x="0" y="0"/>
          <a:chExt cx="0" cy="0"/>
        </a:xfrm>
      </p:grpSpPr>
      <p:sp>
        <p:nvSpPr>
          <p:cNvPr id="62" name="Google Shape;62;p16"/>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3" name="Google Shape;63;p16"/>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4" name="Google Shape;64;p16"/>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5" name="Google Shape;65;p16"/>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1200"/>
              </a:spcBef>
              <a:spcAft>
                <a:spcPts val="0"/>
              </a:spcAft>
              <a:buSzPts val="900"/>
              <a:buNone/>
              <a:defRPr/>
            </a:lvl2pPr>
            <a:lvl3pPr indent="-228600" lvl="2" marL="1371600" algn="l">
              <a:lnSpc>
                <a:spcPct val="100000"/>
              </a:lnSpc>
              <a:spcBef>
                <a:spcPts val="1200"/>
              </a:spcBef>
              <a:spcAft>
                <a:spcPts val="0"/>
              </a:spcAft>
              <a:buSzPts val="900"/>
              <a:buNone/>
              <a:defRPr/>
            </a:lvl3pPr>
            <a:lvl4pPr indent="-228600" lvl="3" marL="1828800" algn="l">
              <a:lnSpc>
                <a:spcPct val="100000"/>
              </a:lnSpc>
              <a:spcBef>
                <a:spcPts val="1200"/>
              </a:spcBef>
              <a:spcAft>
                <a:spcPts val="0"/>
              </a:spcAft>
              <a:buSzPts val="900"/>
              <a:buNone/>
              <a:defRPr/>
            </a:lvl4pPr>
            <a:lvl5pPr indent="-228600" lvl="4" marL="2286000" algn="l">
              <a:lnSpc>
                <a:spcPct val="100000"/>
              </a:lnSpc>
              <a:spcBef>
                <a:spcPts val="1200"/>
              </a:spcBef>
              <a:spcAft>
                <a:spcPts val="0"/>
              </a:spcAft>
              <a:buSzPts val="900"/>
              <a:buNone/>
              <a:defRPr/>
            </a:lvl5pPr>
            <a:lvl6pPr indent="-285750" lvl="5" marL="2743200" algn="l">
              <a:lnSpc>
                <a:spcPct val="90000"/>
              </a:lnSpc>
              <a:spcBef>
                <a:spcPts val="1200"/>
              </a:spcBef>
              <a:spcAft>
                <a:spcPts val="0"/>
              </a:spcAft>
              <a:buSzPts val="900"/>
              <a:buChar char="■"/>
              <a:defRPr sz="900"/>
            </a:lvl6pPr>
            <a:lvl7pPr indent="-285750" lvl="6" marL="3200400" algn="l">
              <a:lnSpc>
                <a:spcPct val="90000"/>
              </a:lnSpc>
              <a:spcBef>
                <a:spcPts val="1200"/>
              </a:spcBef>
              <a:spcAft>
                <a:spcPts val="0"/>
              </a:spcAft>
              <a:buSzPts val="900"/>
              <a:buChar char="●"/>
              <a:defRPr sz="900"/>
            </a:lvl7pPr>
            <a:lvl8pPr indent="-285750" lvl="7" marL="3657600" algn="l">
              <a:lnSpc>
                <a:spcPct val="90000"/>
              </a:lnSpc>
              <a:spcBef>
                <a:spcPts val="1200"/>
              </a:spcBef>
              <a:spcAft>
                <a:spcPts val="0"/>
              </a:spcAft>
              <a:buSzPts val="900"/>
              <a:buChar char="○"/>
              <a:defRPr sz="900"/>
            </a:lvl8pPr>
            <a:lvl9pPr indent="-285750" lvl="8" marL="4114800" algn="l">
              <a:lnSpc>
                <a:spcPct val="90000"/>
              </a:lnSpc>
              <a:spcBef>
                <a:spcPts val="1200"/>
              </a:spcBef>
              <a:spcAft>
                <a:spcPts val="1200"/>
              </a:spcAft>
              <a:buSzPts val="900"/>
              <a:buChar char="■"/>
              <a:defRPr sz="900"/>
            </a:lvl9pPr>
          </a:lstStyle>
          <a:p/>
        </p:txBody>
      </p:sp>
      <p:sp>
        <p:nvSpPr>
          <p:cNvPr id="66" name="Google Shape;66;p16"/>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6"/>
          <p:cNvSpPr txBox="1"/>
          <p:nvPr>
            <p:ph idx="12" type="sldNum"/>
          </p:nvPr>
        </p:nvSpPr>
        <p:spPr>
          <a:xfrm>
            <a:off x="8317509" y="4725915"/>
            <a:ext cx="352500" cy="1539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68" name="Google Shape;68;p16"/>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69" name="Shape 69"/>
        <p:cNvGrpSpPr/>
        <p:nvPr/>
      </p:nvGrpSpPr>
      <p:grpSpPr>
        <a:xfrm>
          <a:off x="0" y="0"/>
          <a:ext cx="0" cy="0"/>
          <a:chOff x="0" y="0"/>
          <a:chExt cx="0" cy="0"/>
        </a:xfrm>
      </p:grpSpPr>
      <p:sp>
        <p:nvSpPr>
          <p:cNvPr id="70" name="Google Shape;70;p1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2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12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12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12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1200"/>
              </a:spcBef>
              <a:spcAft>
                <a:spcPts val="120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1" name="Google Shape;71;p1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 name="Google Shape;72;p17"/>
          <p:cNvSpPr/>
          <p:nvPr>
            <p:ph idx="2" type="pic"/>
          </p:nvPr>
        </p:nvSpPr>
        <p:spPr>
          <a:xfrm>
            <a:off x="7446169" y="228600"/>
            <a:ext cx="1473600" cy="685800"/>
          </a:xfrm>
          <a:prstGeom prst="rect">
            <a:avLst/>
          </a:prstGeom>
          <a:noFill/>
          <a:ln>
            <a:noFill/>
          </a:ln>
        </p:spPr>
      </p:sp>
      <p:sp>
        <p:nvSpPr>
          <p:cNvPr id="73" name="Google Shape;73;p1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12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12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12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12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1200"/>
              </a:spcBef>
              <a:spcAft>
                <a:spcPts val="120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 name="Google Shape;74;p1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5" name="Google Shape;75;p1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6" name="Google Shape;76;p17"/>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12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12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12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12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12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1200"/>
              </a:spcBef>
              <a:spcAft>
                <a:spcPts val="120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83" name="Shape 83"/>
        <p:cNvGrpSpPr/>
        <p:nvPr/>
      </p:nvGrpSpPr>
      <p:grpSpPr>
        <a:xfrm>
          <a:off x="0" y="0"/>
          <a:ext cx="0" cy="0"/>
          <a:chOff x="0" y="0"/>
          <a:chExt cx="0" cy="0"/>
        </a:xfrm>
      </p:grpSpPr>
      <p:sp>
        <p:nvSpPr>
          <p:cNvPr id="84" name="Google Shape;84;p19"/>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9"/>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87" name="Shape 87"/>
        <p:cNvGrpSpPr/>
        <p:nvPr/>
      </p:nvGrpSpPr>
      <p:grpSpPr>
        <a:xfrm>
          <a:off x="0" y="0"/>
          <a:ext cx="0" cy="0"/>
          <a:chOff x="0" y="0"/>
          <a:chExt cx="0" cy="0"/>
        </a:xfrm>
      </p:grpSpPr>
      <p:sp>
        <p:nvSpPr>
          <p:cNvPr id="88" name="Google Shape;88;p20"/>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 name="Google Shape;89;p20"/>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0" name="Google Shape;90;p20"/>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91" name="Google Shape;91;p20"/>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92" name="Shape 92"/>
        <p:cNvGrpSpPr/>
        <p:nvPr/>
      </p:nvGrpSpPr>
      <p:grpSpPr>
        <a:xfrm>
          <a:off x="0" y="0"/>
          <a:ext cx="0" cy="0"/>
          <a:chOff x="0" y="0"/>
          <a:chExt cx="0" cy="0"/>
        </a:xfrm>
      </p:grpSpPr>
      <p:sp>
        <p:nvSpPr>
          <p:cNvPr id="93" name="Google Shape;93;p21"/>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 name="Google Shape;94;p21"/>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95" name="Google Shape;95;p21"/>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96" name="Google Shape;96;p21"/>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97" name="Shape 97"/>
        <p:cNvGrpSpPr/>
        <p:nvPr/>
      </p:nvGrpSpPr>
      <p:grpSpPr>
        <a:xfrm>
          <a:off x="0" y="0"/>
          <a:ext cx="0" cy="0"/>
          <a:chOff x="0" y="0"/>
          <a:chExt cx="0" cy="0"/>
        </a:xfrm>
      </p:grpSpPr>
      <p:sp>
        <p:nvSpPr>
          <p:cNvPr id="98" name="Google Shape;98;p22"/>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99" name="Google Shape;99;p22"/>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100" name="Google Shape;100;p22"/>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1" name="Google Shape;101;p22"/>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2"/>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103" name="Shape 103"/>
        <p:cNvGrpSpPr/>
        <p:nvPr/>
      </p:nvGrpSpPr>
      <p:grpSpPr>
        <a:xfrm>
          <a:off x="0" y="0"/>
          <a:ext cx="0" cy="0"/>
          <a:chOff x="0" y="0"/>
          <a:chExt cx="0" cy="0"/>
        </a:xfrm>
      </p:grpSpPr>
      <p:sp>
        <p:nvSpPr>
          <p:cNvPr id="104" name="Google Shape;104;p23"/>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105" name="Google Shape;105;p23"/>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106" name="Google Shape;106;p23"/>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107" name="Google Shape;107;p23"/>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3"/>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109" name="Shape 109"/>
        <p:cNvGrpSpPr/>
        <p:nvPr/>
      </p:nvGrpSpPr>
      <p:grpSpPr>
        <a:xfrm>
          <a:off x="0" y="0"/>
          <a:ext cx="0" cy="0"/>
          <a:chOff x="0" y="0"/>
          <a:chExt cx="0" cy="0"/>
        </a:xfrm>
      </p:grpSpPr>
      <p:sp>
        <p:nvSpPr>
          <p:cNvPr id="110" name="Google Shape;110;p24"/>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1" name="Google Shape;111;p24"/>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113" name="Shape 113"/>
        <p:cNvGrpSpPr/>
        <p:nvPr/>
      </p:nvGrpSpPr>
      <p:grpSpPr>
        <a:xfrm>
          <a:off x="0" y="0"/>
          <a:ext cx="0" cy="0"/>
          <a:chOff x="0" y="0"/>
          <a:chExt cx="0" cy="0"/>
        </a:xfrm>
      </p:grpSpPr>
      <p:sp>
        <p:nvSpPr>
          <p:cNvPr id="114" name="Google Shape;114;p25"/>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5" name="Google Shape;115;p25"/>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5"/>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118" name="Shape 118"/>
        <p:cNvGrpSpPr/>
        <p:nvPr/>
      </p:nvGrpSpPr>
      <p:grpSpPr>
        <a:xfrm>
          <a:off x="0" y="0"/>
          <a:ext cx="0" cy="0"/>
          <a:chOff x="0" y="0"/>
          <a:chExt cx="0" cy="0"/>
        </a:xfrm>
      </p:grpSpPr>
      <p:sp>
        <p:nvSpPr>
          <p:cNvPr id="119" name="Google Shape;119;p26"/>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 name="Google Shape;120;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6"/>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122" name="Shape 122"/>
        <p:cNvGrpSpPr/>
        <p:nvPr/>
      </p:nvGrpSpPr>
      <p:grpSpPr>
        <a:xfrm>
          <a:off x="0" y="0"/>
          <a:ext cx="0" cy="0"/>
          <a:chOff x="0" y="0"/>
          <a:chExt cx="0" cy="0"/>
        </a:xfrm>
      </p:grpSpPr>
      <p:sp>
        <p:nvSpPr>
          <p:cNvPr id="123" name="Google Shape;123;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7"/>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 name="Google Shape;125;p27"/>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126" name="Shape 126"/>
        <p:cNvGrpSpPr/>
        <p:nvPr/>
      </p:nvGrpSpPr>
      <p:grpSpPr>
        <a:xfrm>
          <a:off x="0" y="0"/>
          <a:ext cx="0" cy="0"/>
          <a:chOff x="0" y="0"/>
          <a:chExt cx="0" cy="0"/>
        </a:xfrm>
      </p:grpSpPr>
      <p:sp>
        <p:nvSpPr>
          <p:cNvPr id="127" name="Google Shape;127;p28"/>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8" name="Google Shape;128;p28"/>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9" name="Google Shape;129;p28"/>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0" name="Google Shape;130;p28"/>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1" name="Google Shape;131;p28"/>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2" name="Google Shape;132;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33" name="Google Shape;133;p28"/>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34" name="Shape 134"/>
        <p:cNvGrpSpPr/>
        <p:nvPr/>
      </p:nvGrpSpPr>
      <p:grpSpPr>
        <a:xfrm>
          <a:off x="0" y="0"/>
          <a:ext cx="0" cy="0"/>
          <a:chOff x="0" y="0"/>
          <a:chExt cx="0" cy="0"/>
        </a:xfrm>
      </p:grpSpPr>
      <p:sp>
        <p:nvSpPr>
          <p:cNvPr id="135" name="Google Shape;135;p2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6" name="Google Shape;136;p29"/>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7" name="Google Shape;137;p29"/>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38" name="Google Shape;138;p29"/>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9" name="Google Shape;139;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40" name="Shape 140"/>
        <p:cNvGrpSpPr/>
        <p:nvPr/>
      </p:nvGrpSpPr>
      <p:grpSpPr>
        <a:xfrm>
          <a:off x="0" y="0"/>
          <a:ext cx="0" cy="0"/>
          <a:chOff x="0" y="0"/>
          <a:chExt cx="0" cy="0"/>
        </a:xfrm>
      </p:grpSpPr>
      <p:sp>
        <p:nvSpPr>
          <p:cNvPr id="141" name="Google Shape;141;p30"/>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2" name="Google Shape;142;p30"/>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43" name="Google Shape;143;p30"/>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4" name="Google Shape;144;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30"/>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46" name="Shape 146"/>
        <p:cNvGrpSpPr/>
        <p:nvPr/>
      </p:nvGrpSpPr>
      <p:grpSpPr>
        <a:xfrm>
          <a:off x="0" y="0"/>
          <a:ext cx="0" cy="0"/>
          <a:chOff x="0" y="0"/>
          <a:chExt cx="0" cy="0"/>
        </a:xfrm>
      </p:grpSpPr>
      <p:sp>
        <p:nvSpPr>
          <p:cNvPr id="147" name="Google Shape;147;p31"/>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8" name="Google Shape;148;p31"/>
          <p:cNvSpPr/>
          <p:nvPr>
            <p:ph idx="2" type="pic"/>
          </p:nvPr>
        </p:nvSpPr>
        <p:spPr>
          <a:xfrm>
            <a:off x="4510683" y="0"/>
            <a:ext cx="4632900" cy="5143500"/>
          </a:xfrm>
          <a:prstGeom prst="rect">
            <a:avLst/>
          </a:prstGeom>
          <a:solidFill>
            <a:schemeClr val="lt1"/>
          </a:solidFill>
          <a:ln>
            <a:noFill/>
          </a:ln>
        </p:spPr>
      </p:sp>
      <p:sp>
        <p:nvSpPr>
          <p:cNvPr id="149" name="Google Shape;149;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31"/>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1" name="Google Shape;151;p31"/>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52" name="Google Shape;152;p31"/>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53" name="Shape 153"/>
        <p:cNvGrpSpPr/>
        <p:nvPr/>
      </p:nvGrpSpPr>
      <p:grpSpPr>
        <a:xfrm>
          <a:off x="0" y="0"/>
          <a:ext cx="0" cy="0"/>
          <a:chOff x="0" y="0"/>
          <a:chExt cx="0" cy="0"/>
        </a:xfrm>
      </p:grpSpPr>
      <p:sp>
        <p:nvSpPr>
          <p:cNvPr id="154" name="Google Shape;154;p32"/>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5" name="Google Shape;155;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32"/>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57" name="Shape 157"/>
        <p:cNvGrpSpPr/>
        <p:nvPr/>
      </p:nvGrpSpPr>
      <p:grpSpPr>
        <a:xfrm>
          <a:off x="0" y="0"/>
          <a:ext cx="0" cy="0"/>
          <a:chOff x="0" y="0"/>
          <a:chExt cx="0" cy="0"/>
        </a:xfrm>
      </p:grpSpPr>
      <p:sp>
        <p:nvSpPr>
          <p:cNvPr id="158" name="Google Shape;158;p33"/>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59" name="Google Shape;159;p33"/>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60" name="Google Shape;160;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33"/>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62" name="Shape 162"/>
        <p:cNvGrpSpPr/>
        <p:nvPr/>
      </p:nvGrpSpPr>
      <p:grpSpPr>
        <a:xfrm>
          <a:off x="0" y="0"/>
          <a:ext cx="0" cy="0"/>
          <a:chOff x="0" y="0"/>
          <a:chExt cx="0" cy="0"/>
        </a:xfrm>
      </p:grpSpPr>
      <p:sp>
        <p:nvSpPr>
          <p:cNvPr id="163" name="Google Shape;163;p34"/>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64" name="Google Shape;16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34"/>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66" name="Shape 166"/>
        <p:cNvGrpSpPr/>
        <p:nvPr/>
      </p:nvGrpSpPr>
      <p:grpSpPr>
        <a:xfrm>
          <a:off x="0" y="0"/>
          <a:ext cx="0" cy="0"/>
          <a:chOff x="0" y="0"/>
          <a:chExt cx="0" cy="0"/>
        </a:xfrm>
      </p:grpSpPr>
      <p:sp>
        <p:nvSpPr>
          <p:cNvPr id="167" name="Google Shape;167;p35"/>
          <p:cNvSpPr/>
          <p:nvPr>
            <p:ph idx="2" type="pic"/>
          </p:nvPr>
        </p:nvSpPr>
        <p:spPr>
          <a:xfrm>
            <a:off x="7394972" y="469106"/>
            <a:ext cx="1275000" cy="1325400"/>
          </a:xfrm>
          <a:prstGeom prst="rect">
            <a:avLst/>
          </a:prstGeom>
          <a:noFill/>
          <a:ln>
            <a:noFill/>
          </a:ln>
        </p:spPr>
      </p:sp>
      <p:sp>
        <p:nvSpPr>
          <p:cNvPr id="168" name="Google Shape;168;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35"/>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70" name="Google Shape;170;p35"/>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71" name="Google Shape;171;p35"/>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72" name="Shape 172"/>
        <p:cNvGrpSpPr/>
        <p:nvPr/>
      </p:nvGrpSpPr>
      <p:grpSpPr>
        <a:xfrm>
          <a:off x="0" y="0"/>
          <a:ext cx="0" cy="0"/>
          <a:chOff x="0" y="0"/>
          <a:chExt cx="0" cy="0"/>
        </a:xfrm>
      </p:grpSpPr>
      <p:sp>
        <p:nvSpPr>
          <p:cNvPr id="173" name="Google Shape;173;p36"/>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36"/>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75" name="Google Shape;175;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7" name="Google Shape;177;p36"/>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36"/>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36"/>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80" name="Google Shape;180;p36"/>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81" name="Google Shape;181;p36"/>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 name="Google Shape;182;p36"/>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83" name="Shape 183"/>
        <p:cNvGrpSpPr/>
        <p:nvPr/>
      </p:nvGrpSpPr>
      <p:grpSpPr>
        <a:xfrm>
          <a:off x="0" y="0"/>
          <a:ext cx="0" cy="0"/>
          <a:chOff x="0" y="0"/>
          <a:chExt cx="0" cy="0"/>
        </a:xfrm>
      </p:grpSpPr>
      <p:sp>
        <p:nvSpPr>
          <p:cNvPr id="184" name="Google Shape;184;p37"/>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85" name="Google Shape;185;p37"/>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6" name="Google Shape;186;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7" name="Google Shape;187;p37"/>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37"/>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90" name="Shape 190"/>
        <p:cNvGrpSpPr/>
        <p:nvPr/>
      </p:nvGrpSpPr>
      <p:grpSpPr>
        <a:xfrm>
          <a:off x="0" y="0"/>
          <a:ext cx="0" cy="0"/>
          <a:chOff x="0" y="0"/>
          <a:chExt cx="0" cy="0"/>
        </a:xfrm>
      </p:grpSpPr>
      <p:sp>
        <p:nvSpPr>
          <p:cNvPr id="191" name="Google Shape;191;p38"/>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92" name="Google Shape;192;p38"/>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3" name="Google Shape;193;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8"/>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5" name="Google Shape;195;p38"/>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6" name="Google Shape;196;p38"/>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97" name="Shape 197"/>
        <p:cNvGrpSpPr/>
        <p:nvPr/>
      </p:nvGrpSpPr>
      <p:grpSpPr>
        <a:xfrm>
          <a:off x="0" y="0"/>
          <a:ext cx="0" cy="0"/>
          <a:chOff x="0" y="0"/>
          <a:chExt cx="0" cy="0"/>
        </a:xfrm>
      </p:grpSpPr>
      <p:sp>
        <p:nvSpPr>
          <p:cNvPr id="198" name="Google Shape;198;p39"/>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9" name="Google Shape;199;p39"/>
          <p:cNvSpPr/>
          <p:nvPr>
            <p:ph idx="2" type="pic"/>
          </p:nvPr>
        </p:nvSpPr>
        <p:spPr>
          <a:xfrm>
            <a:off x="4626769" y="1188245"/>
            <a:ext cx="4043400" cy="2755200"/>
          </a:xfrm>
          <a:prstGeom prst="rect">
            <a:avLst/>
          </a:prstGeom>
          <a:solidFill>
            <a:schemeClr val="dk1"/>
          </a:solidFill>
          <a:ln>
            <a:noFill/>
          </a:ln>
        </p:spPr>
      </p:sp>
      <p:sp>
        <p:nvSpPr>
          <p:cNvPr id="200" name="Google Shape;200;p39"/>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1" name="Google Shape;201;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02" name="Google Shape;202;p39"/>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3" name="Google Shape;203;p39"/>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39"/>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205" name="Google Shape;205;p39"/>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206" name="Google Shape;206;p39"/>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7" name="Google Shape;207;p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208" name="Shape 208"/>
        <p:cNvGrpSpPr/>
        <p:nvPr/>
      </p:nvGrpSpPr>
      <p:grpSpPr>
        <a:xfrm>
          <a:off x="0" y="0"/>
          <a:ext cx="0" cy="0"/>
          <a:chOff x="0" y="0"/>
          <a:chExt cx="0" cy="0"/>
        </a:xfrm>
      </p:grpSpPr>
      <p:sp>
        <p:nvSpPr>
          <p:cNvPr id="209" name="Google Shape;209;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10" name="Google Shape;210;p40"/>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1" name="Google Shape;211;p4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213" name="Shape 213"/>
        <p:cNvGrpSpPr/>
        <p:nvPr/>
      </p:nvGrpSpPr>
      <p:grpSpPr>
        <a:xfrm>
          <a:off x="0" y="0"/>
          <a:ext cx="0" cy="0"/>
          <a:chOff x="0" y="0"/>
          <a:chExt cx="0" cy="0"/>
        </a:xfrm>
      </p:grpSpPr>
      <p:sp>
        <p:nvSpPr>
          <p:cNvPr id="214" name="Google Shape;214;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41"/>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6" name="Google Shape;216;p41"/>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7" name="Google Shape;217;p4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8" name="Google Shape;218;p41"/>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41"/>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0" name="Google Shape;220;p41"/>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1" name="Google Shape;221;p41"/>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41"/>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223" name="Shape 223"/>
        <p:cNvGrpSpPr/>
        <p:nvPr/>
      </p:nvGrpSpPr>
      <p:grpSpPr>
        <a:xfrm>
          <a:off x="0" y="0"/>
          <a:ext cx="0" cy="0"/>
          <a:chOff x="0" y="0"/>
          <a:chExt cx="0" cy="0"/>
        </a:xfrm>
      </p:grpSpPr>
      <p:sp>
        <p:nvSpPr>
          <p:cNvPr id="224" name="Google Shape;224;p42"/>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5" name="Google Shape;225;p42"/>
          <p:cNvSpPr/>
          <p:nvPr>
            <p:ph idx="2" type="pic"/>
          </p:nvPr>
        </p:nvSpPr>
        <p:spPr>
          <a:xfrm>
            <a:off x="2555081" y="0"/>
            <a:ext cx="2186700" cy="2577000"/>
          </a:xfrm>
          <a:prstGeom prst="rect">
            <a:avLst/>
          </a:prstGeom>
          <a:solidFill>
            <a:schemeClr val="lt1"/>
          </a:solidFill>
          <a:ln>
            <a:noFill/>
          </a:ln>
        </p:spPr>
      </p:sp>
      <p:sp>
        <p:nvSpPr>
          <p:cNvPr id="226" name="Google Shape;226;p42"/>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7" name="Google Shape;227;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8" name="Google Shape;228;p42"/>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42"/>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0" name="Google Shape;230;p42"/>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1" name="Google Shape;231;p42"/>
          <p:cNvSpPr/>
          <p:nvPr>
            <p:ph idx="5" type="pic"/>
          </p:nvPr>
        </p:nvSpPr>
        <p:spPr>
          <a:xfrm>
            <a:off x="4746599" y="2571750"/>
            <a:ext cx="2222700" cy="2571900"/>
          </a:xfrm>
          <a:prstGeom prst="rect">
            <a:avLst/>
          </a:prstGeom>
          <a:solidFill>
            <a:schemeClr val="lt1"/>
          </a:solidFill>
          <a:ln>
            <a:noFill/>
          </a:ln>
        </p:spPr>
      </p:sp>
      <p:sp>
        <p:nvSpPr>
          <p:cNvPr id="232" name="Google Shape;232;p42"/>
          <p:cNvSpPr/>
          <p:nvPr>
            <p:ph idx="6" type="pic"/>
          </p:nvPr>
        </p:nvSpPr>
        <p:spPr>
          <a:xfrm>
            <a:off x="6972300" y="0"/>
            <a:ext cx="2186700" cy="2577000"/>
          </a:xfrm>
          <a:prstGeom prst="rect">
            <a:avLst/>
          </a:prstGeom>
          <a:solidFill>
            <a:schemeClr val="lt1"/>
          </a:solidFill>
          <a:ln>
            <a:noFill/>
          </a:ln>
        </p:spPr>
      </p:sp>
      <p:sp>
        <p:nvSpPr>
          <p:cNvPr id="233" name="Google Shape;233;p42"/>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4" name="Google Shape;234;p42"/>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235" name="Shape 235"/>
        <p:cNvGrpSpPr/>
        <p:nvPr/>
      </p:nvGrpSpPr>
      <p:grpSpPr>
        <a:xfrm>
          <a:off x="0" y="0"/>
          <a:ext cx="0" cy="0"/>
          <a:chOff x="0" y="0"/>
          <a:chExt cx="0" cy="0"/>
        </a:xfrm>
      </p:grpSpPr>
      <p:sp>
        <p:nvSpPr>
          <p:cNvPr id="236" name="Google Shape;236;p43"/>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7" name="Google Shape;237;p43"/>
          <p:cNvSpPr/>
          <p:nvPr>
            <p:ph idx="2" type="pic"/>
          </p:nvPr>
        </p:nvSpPr>
        <p:spPr>
          <a:xfrm>
            <a:off x="4748405" y="0"/>
            <a:ext cx="2171400" cy="2577000"/>
          </a:xfrm>
          <a:prstGeom prst="rect">
            <a:avLst/>
          </a:prstGeom>
          <a:solidFill>
            <a:schemeClr val="dk2"/>
          </a:solidFill>
          <a:ln>
            <a:noFill/>
          </a:ln>
        </p:spPr>
      </p:sp>
      <p:sp>
        <p:nvSpPr>
          <p:cNvPr id="238" name="Google Shape;238;p43"/>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3"/>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1" name="Google Shape;241;p43"/>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43"/>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3"/>
          <p:cNvSpPr/>
          <p:nvPr>
            <p:ph idx="5" type="pic"/>
          </p:nvPr>
        </p:nvSpPr>
        <p:spPr>
          <a:xfrm>
            <a:off x="6921268" y="2571750"/>
            <a:ext cx="2222700" cy="2571900"/>
          </a:xfrm>
          <a:prstGeom prst="rect">
            <a:avLst/>
          </a:prstGeom>
          <a:solidFill>
            <a:schemeClr val="dk2"/>
          </a:solidFill>
          <a:ln>
            <a:noFill/>
          </a:ln>
        </p:spPr>
      </p:sp>
      <p:sp>
        <p:nvSpPr>
          <p:cNvPr id="244" name="Google Shape;244;p43"/>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43"/>
          <p:cNvSpPr/>
          <p:nvPr>
            <p:ph idx="7" type="pic"/>
          </p:nvPr>
        </p:nvSpPr>
        <p:spPr>
          <a:xfrm>
            <a:off x="2555082" y="2571750"/>
            <a:ext cx="2190000" cy="2571900"/>
          </a:xfrm>
          <a:prstGeom prst="rect">
            <a:avLst/>
          </a:prstGeom>
          <a:solidFill>
            <a:schemeClr val="dk2"/>
          </a:solidFill>
          <a:ln>
            <a:noFill/>
          </a:ln>
        </p:spPr>
      </p:sp>
      <p:sp>
        <p:nvSpPr>
          <p:cNvPr id="246" name="Google Shape;246;p43"/>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247" name="Shape 247"/>
        <p:cNvGrpSpPr/>
        <p:nvPr/>
      </p:nvGrpSpPr>
      <p:grpSpPr>
        <a:xfrm>
          <a:off x="0" y="0"/>
          <a:ext cx="0" cy="0"/>
          <a:chOff x="0" y="0"/>
          <a:chExt cx="0" cy="0"/>
        </a:xfrm>
      </p:grpSpPr>
      <p:sp>
        <p:nvSpPr>
          <p:cNvPr id="248" name="Google Shape;248;p44"/>
          <p:cNvSpPr/>
          <p:nvPr>
            <p:ph idx="2" type="pic"/>
          </p:nvPr>
        </p:nvSpPr>
        <p:spPr>
          <a:xfrm>
            <a:off x="473869" y="1188244"/>
            <a:ext cx="1955100" cy="2046000"/>
          </a:xfrm>
          <a:prstGeom prst="rect">
            <a:avLst/>
          </a:prstGeom>
          <a:solidFill>
            <a:schemeClr val="dk2"/>
          </a:solidFill>
          <a:ln>
            <a:noFill/>
          </a:ln>
        </p:spPr>
      </p:sp>
      <p:sp>
        <p:nvSpPr>
          <p:cNvPr id="249" name="Google Shape;249;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44"/>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1" name="Google Shape;251;p44"/>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2" name="Google Shape;252;p4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3" name="Google Shape;253;p44"/>
          <p:cNvSpPr/>
          <p:nvPr>
            <p:ph idx="4" type="pic"/>
          </p:nvPr>
        </p:nvSpPr>
        <p:spPr>
          <a:xfrm>
            <a:off x="2571750" y="1188244"/>
            <a:ext cx="1955100" cy="2046000"/>
          </a:xfrm>
          <a:prstGeom prst="rect">
            <a:avLst/>
          </a:prstGeom>
          <a:solidFill>
            <a:schemeClr val="dk2"/>
          </a:solidFill>
          <a:ln>
            <a:noFill/>
          </a:ln>
        </p:spPr>
      </p:sp>
      <p:sp>
        <p:nvSpPr>
          <p:cNvPr id="254" name="Google Shape;254;p44"/>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5" name="Google Shape;255;p44"/>
          <p:cNvSpPr/>
          <p:nvPr>
            <p:ph idx="6" type="pic"/>
          </p:nvPr>
        </p:nvSpPr>
        <p:spPr>
          <a:xfrm>
            <a:off x="4633913" y="1188244"/>
            <a:ext cx="1955100" cy="2046000"/>
          </a:xfrm>
          <a:prstGeom prst="rect">
            <a:avLst/>
          </a:prstGeom>
          <a:solidFill>
            <a:schemeClr val="dk2"/>
          </a:solidFill>
          <a:ln>
            <a:noFill/>
          </a:ln>
        </p:spPr>
      </p:sp>
      <p:sp>
        <p:nvSpPr>
          <p:cNvPr id="256" name="Google Shape;256;p44"/>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7" name="Google Shape;257;p44"/>
          <p:cNvSpPr/>
          <p:nvPr>
            <p:ph idx="8" type="pic"/>
          </p:nvPr>
        </p:nvSpPr>
        <p:spPr>
          <a:xfrm>
            <a:off x="6715125" y="1188244"/>
            <a:ext cx="1955100" cy="2046000"/>
          </a:xfrm>
          <a:prstGeom prst="rect">
            <a:avLst/>
          </a:prstGeom>
          <a:solidFill>
            <a:schemeClr val="dk2"/>
          </a:solidFill>
          <a:ln>
            <a:noFill/>
          </a:ln>
        </p:spPr>
      </p:sp>
      <p:sp>
        <p:nvSpPr>
          <p:cNvPr id="258" name="Google Shape;258;p44"/>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59" name="Shape 259"/>
        <p:cNvGrpSpPr/>
        <p:nvPr/>
      </p:nvGrpSpPr>
      <p:grpSpPr>
        <a:xfrm>
          <a:off x="0" y="0"/>
          <a:ext cx="0" cy="0"/>
          <a:chOff x="0" y="0"/>
          <a:chExt cx="0" cy="0"/>
        </a:xfrm>
      </p:grpSpPr>
      <p:sp>
        <p:nvSpPr>
          <p:cNvPr id="260" name="Google Shape;260;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45"/>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2" name="Google Shape;262;p4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4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64" name="Shape 264"/>
        <p:cNvGrpSpPr/>
        <p:nvPr/>
      </p:nvGrpSpPr>
      <p:grpSpPr>
        <a:xfrm>
          <a:off x="0" y="0"/>
          <a:ext cx="0" cy="0"/>
          <a:chOff x="0" y="0"/>
          <a:chExt cx="0" cy="0"/>
        </a:xfrm>
      </p:grpSpPr>
      <p:sp>
        <p:nvSpPr>
          <p:cNvPr id="265" name="Google Shape;265;p46"/>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6" name="Google Shape;266;p4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6"/>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8" name="Google Shape;268;p46"/>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9" name="Google Shape;269;p46"/>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0" name="Google Shape;270;p46"/>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1" name="Google Shape;271;p46"/>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2" name="Google Shape;272;p46"/>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73" name="Shape 273"/>
        <p:cNvGrpSpPr/>
        <p:nvPr/>
      </p:nvGrpSpPr>
      <p:grpSpPr>
        <a:xfrm>
          <a:off x="0" y="0"/>
          <a:ext cx="0" cy="0"/>
          <a:chOff x="0" y="0"/>
          <a:chExt cx="0" cy="0"/>
        </a:xfrm>
      </p:grpSpPr>
      <p:sp>
        <p:nvSpPr>
          <p:cNvPr id="274" name="Google Shape;274;p47"/>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5" name="Google Shape;275;p4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76" name="Google Shape;276;p47"/>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7" name="Google Shape;277;p4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78" name="Shape 278"/>
        <p:cNvGrpSpPr/>
        <p:nvPr/>
      </p:nvGrpSpPr>
      <p:grpSpPr>
        <a:xfrm>
          <a:off x="0" y="0"/>
          <a:ext cx="0" cy="0"/>
          <a:chOff x="0" y="0"/>
          <a:chExt cx="0" cy="0"/>
        </a:xfrm>
      </p:grpSpPr>
      <p:sp>
        <p:nvSpPr>
          <p:cNvPr id="279" name="Google Shape;279;p4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80" name="Google Shape;280;p48"/>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81" name="Google Shape;281;p48"/>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82" name="Google Shape;282;p48"/>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83" name="Google Shape;283;p48"/>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84" name="Shape 284"/>
        <p:cNvGrpSpPr/>
        <p:nvPr/>
      </p:nvGrpSpPr>
      <p:grpSpPr>
        <a:xfrm>
          <a:off x="0" y="0"/>
          <a:ext cx="0" cy="0"/>
          <a:chOff x="0" y="0"/>
          <a:chExt cx="0" cy="0"/>
        </a:xfrm>
      </p:grpSpPr>
      <p:sp>
        <p:nvSpPr>
          <p:cNvPr id="285" name="Google Shape;285;p4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86" name="Google Shape;286;p49"/>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87" name="Google Shape;287;p49"/>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88" name="Google Shape;288;p4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89" name="Google Shape;289;p49"/>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90" name="Google Shape;290;p49"/>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91" name="Google Shape;291;p49"/>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92" name="Shape 292"/>
        <p:cNvGrpSpPr/>
        <p:nvPr/>
      </p:nvGrpSpPr>
      <p:grpSpPr>
        <a:xfrm>
          <a:off x="0" y="0"/>
          <a:ext cx="0" cy="0"/>
          <a:chOff x="0" y="0"/>
          <a:chExt cx="0" cy="0"/>
        </a:xfrm>
      </p:grpSpPr>
      <p:sp>
        <p:nvSpPr>
          <p:cNvPr id="293" name="Google Shape;293;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50"/>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50"/>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96" name="Google Shape;296;p50"/>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97" name="Google Shape;297;p5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8" name="Google Shape;298;p50"/>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9" name="Google Shape;299;p50"/>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300" name="Google Shape;300;p50"/>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1" name="Google Shape;301;p50"/>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302" name="Google Shape;302;p50"/>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50"/>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304" name="Google Shape;304;p50"/>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5" name="Google Shape;305;p50"/>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306" name="Google Shape;306;p50"/>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7" name="Google Shape;307;p50"/>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308" name="Shape 308"/>
        <p:cNvGrpSpPr/>
        <p:nvPr/>
      </p:nvGrpSpPr>
      <p:grpSpPr>
        <a:xfrm>
          <a:off x="0" y="0"/>
          <a:ext cx="0" cy="0"/>
          <a:chOff x="0" y="0"/>
          <a:chExt cx="0" cy="0"/>
        </a:xfrm>
      </p:grpSpPr>
      <p:sp>
        <p:nvSpPr>
          <p:cNvPr id="309" name="Google Shape;309;p51"/>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10" name="Google Shape;310;p51"/>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311" name="Shape 311"/>
        <p:cNvGrpSpPr/>
        <p:nvPr/>
      </p:nvGrpSpPr>
      <p:grpSpPr>
        <a:xfrm>
          <a:off x="0" y="0"/>
          <a:ext cx="0" cy="0"/>
          <a:chOff x="0" y="0"/>
          <a:chExt cx="0" cy="0"/>
        </a:xfrm>
      </p:grpSpPr>
      <p:sp>
        <p:nvSpPr>
          <p:cNvPr id="312" name="Google Shape;312;p5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13" name="Google Shape;313;p52"/>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14" name="Google Shape;314;p52"/>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315" name="Shape 315"/>
        <p:cNvGrpSpPr/>
        <p:nvPr/>
      </p:nvGrpSpPr>
      <p:grpSpPr>
        <a:xfrm>
          <a:off x="0" y="0"/>
          <a:ext cx="0" cy="0"/>
          <a:chOff x="0" y="0"/>
          <a:chExt cx="0" cy="0"/>
        </a:xfrm>
      </p:grpSpPr>
      <p:sp>
        <p:nvSpPr>
          <p:cNvPr id="316" name="Google Shape;316;p53"/>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17" name="Google Shape;317;p53"/>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318" name="Shape 318"/>
        <p:cNvGrpSpPr/>
        <p:nvPr/>
      </p:nvGrpSpPr>
      <p:grpSpPr>
        <a:xfrm>
          <a:off x="0" y="0"/>
          <a:ext cx="0" cy="0"/>
          <a:chOff x="0" y="0"/>
          <a:chExt cx="0" cy="0"/>
        </a:xfrm>
      </p:grpSpPr>
      <p:sp>
        <p:nvSpPr>
          <p:cNvPr id="319" name="Google Shape;319;p5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20" name="Google Shape;320;p54"/>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321" name="Shape 321"/>
        <p:cNvGrpSpPr/>
        <p:nvPr/>
      </p:nvGrpSpPr>
      <p:grpSpPr>
        <a:xfrm>
          <a:off x="0" y="0"/>
          <a:ext cx="0" cy="0"/>
          <a:chOff x="0" y="0"/>
          <a:chExt cx="0" cy="0"/>
        </a:xfrm>
      </p:grpSpPr>
      <p:sp>
        <p:nvSpPr>
          <p:cNvPr id="322" name="Google Shape;322;p5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55"/>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4" name="Google Shape;324;p5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5" name="Google Shape;325;p5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326" name="Shape 326"/>
        <p:cNvGrpSpPr/>
        <p:nvPr/>
      </p:nvGrpSpPr>
      <p:grpSpPr>
        <a:xfrm>
          <a:off x="0" y="0"/>
          <a:ext cx="0" cy="0"/>
          <a:chOff x="0" y="0"/>
          <a:chExt cx="0" cy="0"/>
        </a:xfrm>
      </p:grpSpPr>
      <p:sp>
        <p:nvSpPr>
          <p:cNvPr id="327" name="Google Shape;327;p56"/>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8" name="Google Shape;328;p5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29" name="Google Shape;329;p56"/>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330" name="Google Shape;330;p56"/>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56"/>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332" name="Shape 332"/>
        <p:cNvGrpSpPr/>
        <p:nvPr/>
      </p:nvGrpSpPr>
      <p:grpSpPr>
        <a:xfrm>
          <a:off x="0" y="0"/>
          <a:ext cx="0" cy="0"/>
          <a:chOff x="0" y="0"/>
          <a:chExt cx="0" cy="0"/>
        </a:xfrm>
      </p:grpSpPr>
      <p:sp>
        <p:nvSpPr>
          <p:cNvPr id="333" name="Google Shape;333;p57"/>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4" name="Google Shape;334;p57"/>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335" name="Shape 335"/>
        <p:cNvGrpSpPr/>
        <p:nvPr/>
      </p:nvGrpSpPr>
      <p:grpSpPr>
        <a:xfrm>
          <a:off x="0" y="0"/>
          <a:ext cx="0" cy="0"/>
          <a:chOff x="0" y="0"/>
          <a:chExt cx="0" cy="0"/>
        </a:xfrm>
      </p:grpSpPr>
      <p:sp>
        <p:nvSpPr>
          <p:cNvPr id="336" name="Google Shape;336;p58"/>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337" name="Google Shape;337;p58"/>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8" name="Google Shape;338;p58"/>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339" name="Shape 339"/>
        <p:cNvGrpSpPr/>
        <p:nvPr/>
      </p:nvGrpSpPr>
      <p:grpSpPr>
        <a:xfrm>
          <a:off x="0" y="0"/>
          <a:ext cx="0" cy="0"/>
          <a:chOff x="0" y="0"/>
          <a:chExt cx="0" cy="0"/>
        </a:xfrm>
      </p:grpSpPr>
      <p:sp>
        <p:nvSpPr>
          <p:cNvPr id="340" name="Google Shape;340;p59"/>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41" name="Google Shape;341;p59"/>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2" name="Google Shape;342;p59"/>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43" name="Google Shape;343;p59"/>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44" name="Google Shape;344;p59"/>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5" name="Shape 345"/>
        <p:cNvGrpSpPr/>
        <p:nvPr/>
      </p:nvGrpSpPr>
      <p:grpSpPr>
        <a:xfrm>
          <a:off x="0" y="0"/>
          <a:ext cx="0" cy="0"/>
          <a:chOff x="0" y="0"/>
          <a:chExt cx="0" cy="0"/>
        </a:xfrm>
      </p:grpSpPr>
      <p:sp>
        <p:nvSpPr>
          <p:cNvPr id="346" name="Google Shape;346;p60"/>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47" name="Google Shape;347;p60"/>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48" name="Google Shape;348;p60"/>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49" name="Shape 349"/>
        <p:cNvGrpSpPr/>
        <p:nvPr/>
      </p:nvGrpSpPr>
      <p:grpSpPr>
        <a:xfrm>
          <a:off x="0" y="0"/>
          <a:ext cx="0" cy="0"/>
          <a:chOff x="0" y="0"/>
          <a:chExt cx="0" cy="0"/>
        </a:xfrm>
      </p:grpSpPr>
      <p:sp>
        <p:nvSpPr>
          <p:cNvPr id="350" name="Google Shape;350;p61"/>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1" name="Google Shape;351;p61"/>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2" name="Google Shape;352;p6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353" name="Shape 353"/>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63"/>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6" name="Google Shape;356;p63"/>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57" name="Google Shape;357;p63"/>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358" name="Shape 358"/>
        <p:cNvGrpSpPr/>
        <p:nvPr/>
      </p:nvGrpSpPr>
      <p:grpSpPr>
        <a:xfrm>
          <a:off x="0" y="0"/>
          <a:ext cx="0" cy="0"/>
          <a:chOff x="0" y="0"/>
          <a:chExt cx="0" cy="0"/>
        </a:xfrm>
      </p:grpSpPr>
      <p:sp>
        <p:nvSpPr>
          <p:cNvPr id="359" name="Google Shape;359;p6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60" name="Google Shape;360;p6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61" name="Google Shape;361;p64"/>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62" name="Google Shape;362;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363" name="Google Shape;363;p6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364" name="Shape 364"/>
        <p:cNvGrpSpPr/>
        <p:nvPr/>
      </p:nvGrpSpPr>
      <p:grpSpPr>
        <a:xfrm>
          <a:off x="0" y="0"/>
          <a:ext cx="0" cy="0"/>
          <a:chOff x="0" y="0"/>
          <a:chExt cx="0" cy="0"/>
        </a:xfrm>
      </p:grpSpPr>
      <p:sp>
        <p:nvSpPr>
          <p:cNvPr id="365" name="Google Shape;365;p65"/>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66" name="Google Shape;366;p65"/>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7" name="Google Shape;367;p65"/>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368" name="Google Shape;368;p65"/>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69" name="Shape 369"/>
        <p:cNvGrpSpPr/>
        <p:nvPr/>
      </p:nvGrpSpPr>
      <p:grpSpPr>
        <a:xfrm>
          <a:off x="0" y="0"/>
          <a:ext cx="0" cy="0"/>
          <a:chOff x="0" y="0"/>
          <a:chExt cx="0" cy="0"/>
        </a:xfrm>
      </p:grpSpPr>
      <p:sp>
        <p:nvSpPr>
          <p:cNvPr id="370" name="Google Shape;370;p66"/>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71" name="Google Shape;371;p66"/>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72" name="Google Shape;372;p66"/>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73" name="Google Shape;373;p66"/>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74" name="Google Shape;374;p66"/>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75" name="Shape 375"/>
        <p:cNvGrpSpPr/>
        <p:nvPr/>
      </p:nvGrpSpPr>
      <p:grpSpPr>
        <a:xfrm>
          <a:off x="0" y="0"/>
          <a:ext cx="0" cy="0"/>
          <a:chOff x="0" y="0"/>
          <a:chExt cx="0" cy="0"/>
        </a:xfrm>
      </p:grpSpPr>
      <p:sp>
        <p:nvSpPr>
          <p:cNvPr id="376" name="Google Shape;376;p6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77" name="Google Shape;377;p6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78" name="Shape 378"/>
        <p:cNvGrpSpPr/>
        <p:nvPr/>
      </p:nvGrpSpPr>
      <p:grpSpPr>
        <a:xfrm>
          <a:off x="0" y="0"/>
          <a:ext cx="0" cy="0"/>
          <a:chOff x="0" y="0"/>
          <a:chExt cx="0" cy="0"/>
        </a:xfrm>
      </p:grpSpPr>
      <p:sp>
        <p:nvSpPr>
          <p:cNvPr id="379" name="Google Shape;379;p68"/>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6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81" name="Shape 381"/>
        <p:cNvGrpSpPr/>
        <p:nvPr/>
      </p:nvGrpSpPr>
      <p:grpSpPr>
        <a:xfrm>
          <a:off x="0" y="0"/>
          <a:ext cx="0" cy="0"/>
          <a:chOff x="0" y="0"/>
          <a:chExt cx="0" cy="0"/>
        </a:xfrm>
      </p:grpSpPr>
      <p:sp>
        <p:nvSpPr>
          <p:cNvPr id="382" name="Google Shape;382;p6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83" name="Google Shape;383;p6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84" name="Google Shape;384;p69"/>
          <p:cNvSpPr/>
          <p:nvPr>
            <p:ph idx="2" type="pic"/>
          </p:nvPr>
        </p:nvSpPr>
        <p:spPr>
          <a:xfrm>
            <a:off x="7446169" y="228600"/>
            <a:ext cx="1473600" cy="685800"/>
          </a:xfrm>
          <a:prstGeom prst="rect">
            <a:avLst/>
          </a:prstGeom>
          <a:noFill/>
          <a:ln>
            <a:noFill/>
          </a:ln>
        </p:spPr>
      </p:sp>
      <p:sp>
        <p:nvSpPr>
          <p:cNvPr id="385" name="Google Shape;385;p69"/>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6" name="Google Shape;386;p6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387" name="Google Shape;387;p6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88" name="Google Shape;388;p69"/>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5.xml"/><Relationship Id="rId42" Type="http://schemas.openxmlformats.org/officeDocument/2006/relationships/slideLayout" Target="../slideLayouts/slideLayout57.xml"/><Relationship Id="rId41" Type="http://schemas.openxmlformats.org/officeDocument/2006/relationships/slideLayout" Target="../slideLayouts/slideLayout56.xml"/><Relationship Id="rId44" Type="http://schemas.openxmlformats.org/officeDocument/2006/relationships/slideLayout" Target="../slideLayouts/slideLayout59.xml"/><Relationship Id="rId43" Type="http://schemas.openxmlformats.org/officeDocument/2006/relationships/slideLayout" Target="../slideLayouts/slideLayout58.xml"/><Relationship Id="rId46" Type="http://schemas.openxmlformats.org/officeDocument/2006/relationships/slideLayout" Target="../slideLayouts/slideLayout61.xml"/><Relationship Id="rId45" Type="http://schemas.openxmlformats.org/officeDocument/2006/relationships/slideLayout" Target="../slideLayouts/slideLayout60.xml"/><Relationship Id="rId1" Type="http://schemas.openxmlformats.org/officeDocument/2006/relationships/image" Target="../media/image5.pn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48" Type="http://schemas.openxmlformats.org/officeDocument/2006/relationships/slideLayout" Target="../slideLayouts/slideLayout63.xml"/><Relationship Id="rId47" Type="http://schemas.openxmlformats.org/officeDocument/2006/relationships/slideLayout" Target="../slideLayouts/slideLayout62.xml"/><Relationship Id="rId49" Type="http://schemas.openxmlformats.org/officeDocument/2006/relationships/slideLayout" Target="../slideLayouts/slideLayout6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31" Type="http://schemas.openxmlformats.org/officeDocument/2006/relationships/slideLayout" Target="../slideLayouts/slideLayout46.xml"/><Relationship Id="rId30" Type="http://schemas.openxmlformats.org/officeDocument/2006/relationships/slideLayout" Target="../slideLayouts/slideLayout45.xml"/><Relationship Id="rId33" Type="http://schemas.openxmlformats.org/officeDocument/2006/relationships/slideLayout" Target="../slideLayouts/slideLayout48.xml"/><Relationship Id="rId32" Type="http://schemas.openxmlformats.org/officeDocument/2006/relationships/slideLayout" Target="../slideLayouts/slideLayout47.xml"/><Relationship Id="rId35" Type="http://schemas.openxmlformats.org/officeDocument/2006/relationships/slideLayout" Target="../slideLayouts/slideLayout50.xml"/><Relationship Id="rId34" Type="http://schemas.openxmlformats.org/officeDocument/2006/relationships/slideLayout" Target="../slideLayouts/slideLayout49.xml"/><Relationship Id="rId37" Type="http://schemas.openxmlformats.org/officeDocument/2006/relationships/slideLayout" Target="../slideLayouts/slideLayout52.xml"/><Relationship Id="rId36" Type="http://schemas.openxmlformats.org/officeDocument/2006/relationships/slideLayout" Target="../slideLayouts/slideLayout51.xml"/><Relationship Id="rId39" Type="http://schemas.openxmlformats.org/officeDocument/2006/relationships/slideLayout" Target="../slideLayouts/slideLayout54.xml"/><Relationship Id="rId38" Type="http://schemas.openxmlformats.org/officeDocument/2006/relationships/slideLayout" Target="../slideLayouts/slideLayout53.xml"/><Relationship Id="rId20" Type="http://schemas.openxmlformats.org/officeDocument/2006/relationships/slideLayout" Target="../slideLayouts/slideLayout35.xml"/><Relationship Id="rId22" Type="http://schemas.openxmlformats.org/officeDocument/2006/relationships/slideLayout" Target="../slideLayouts/slideLayout37.xml"/><Relationship Id="rId21" Type="http://schemas.openxmlformats.org/officeDocument/2006/relationships/slideLayout" Target="../slideLayouts/slideLayout36.xml"/><Relationship Id="rId24" Type="http://schemas.openxmlformats.org/officeDocument/2006/relationships/slideLayout" Target="../slideLayouts/slideLayout39.xml"/><Relationship Id="rId23" Type="http://schemas.openxmlformats.org/officeDocument/2006/relationships/slideLayout" Target="../slideLayouts/slideLayout38.xml"/><Relationship Id="rId26" Type="http://schemas.openxmlformats.org/officeDocument/2006/relationships/slideLayout" Target="../slideLayouts/slideLayout41.xml"/><Relationship Id="rId25" Type="http://schemas.openxmlformats.org/officeDocument/2006/relationships/slideLayout" Target="../slideLayouts/slideLayout40.xml"/><Relationship Id="rId28" Type="http://schemas.openxmlformats.org/officeDocument/2006/relationships/slideLayout" Target="../slideLayouts/slideLayout43.xml"/><Relationship Id="rId27" Type="http://schemas.openxmlformats.org/officeDocument/2006/relationships/slideLayout" Target="../slideLayouts/slideLayout42.xml"/><Relationship Id="rId29" Type="http://schemas.openxmlformats.org/officeDocument/2006/relationships/slideLayout" Target="../slideLayouts/slideLayout44.xml"/><Relationship Id="rId51" Type="http://schemas.openxmlformats.org/officeDocument/2006/relationships/slideLayout" Target="../slideLayouts/slideLayout66.xml"/><Relationship Id="rId50" Type="http://schemas.openxmlformats.org/officeDocument/2006/relationships/slideLayout" Target="../slideLayouts/slideLayout65.xml"/><Relationship Id="rId53" Type="http://schemas.openxmlformats.org/officeDocument/2006/relationships/theme" Target="../theme/theme2.xml"/><Relationship Id="rId52" Type="http://schemas.openxmlformats.org/officeDocument/2006/relationships/slideLayout" Target="../slideLayouts/slideLayout6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7" Type="http://schemas.openxmlformats.org/officeDocument/2006/relationships/slideLayout" Target="../slideLayouts/slideLayout32.xml"/><Relationship Id="rId16" Type="http://schemas.openxmlformats.org/officeDocument/2006/relationships/slideLayout" Target="../slideLayouts/slideLayout31.xml"/><Relationship Id="rId19" Type="http://schemas.openxmlformats.org/officeDocument/2006/relationships/slideLayout" Target="../slideLayouts/slideLayout34.xml"/><Relationship Id="rId1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79" name="Google Shape;79;p18"/>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80" name="Google Shape;80;p1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81" name="Google Shape;81;p18"/>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82" name="Google Shape;82;p18"/>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30.png"/><Relationship Id="rId5" Type="http://schemas.openxmlformats.org/officeDocument/2006/relationships/image" Target="../media/image29.png"/><Relationship Id="rId6"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70"/>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395" name="Google Shape;395;p7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t>
            </a:r>
            <a:endParaRPr/>
          </a:p>
          <a:p>
            <a:pPr indent="0" lvl="0" marL="0" rtl="0" algn="l">
              <a:lnSpc>
                <a:spcPct val="90000"/>
              </a:lnSpc>
              <a:spcBef>
                <a:spcPts val="0"/>
              </a:spcBef>
              <a:spcAft>
                <a:spcPts val="0"/>
              </a:spcAft>
              <a:buSzPts val="5000"/>
              <a:buNone/>
            </a:pPr>
            <a:r>
              <a:rPr lang="en"/>
              <a:t>Native Library</a:t>
            </a:r>
            <a:endParaRPr/>
          </a:p>
        </p:txBody>
      </p:sp>
      <p:sp>
        <p:nvSpPr>
          <p:cNvPr id="396" name="Google Shape;396;p70"/>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397" name="Google Shape;397;p70"/>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398" name="Google Shape;398;p70"/>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3" name="Shape 403"/>
        <p:cNvGrpSpPr/>
        <p:nvPr/>
      </p:nvGrpSpPr>
      <p:grpSpPr>
        <a:xfrm>
          <a:off x="0" y="0"/>
          <a:ext cx="0" cy="0"/>
          <a:chOff x="0" y="0"/>
          <a:chExt cx="0" cy="0"/>
        </a:xfrm>
      </p:grpSpPr>
      <p:sp>
        <p:nvSpPr>
          <p:cNvPr id="404" name="Google Shape;404;p71"/>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405" name="Google Shape;405;p71"/>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406" name="Google Shape;406;p71"/>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407" name="Google Shape;407;p71"/>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rgbClr val="EE001E"/>
                </a:solidFill>
                <a:latin typeface="Verizon NHG DS"/>
                <a:ea typeface="Verizon NHG DS"/>
                <a:cs typeface="Verizon NHG DS"/>
                <a:sym typeface="Verizon NHG DS"/>
              </a:rPr>
              <a:t>Native Library </a:t>
            </a:r>
            <a:endParaRPr b="1" sz="2100">
              <a:solidFill>
                <a:srgbClr val="EE001E"/>
              </a:solidFill>
              <a:latin typeface="Verizon NHG DS"/>
              <a:ea typeface="Verizon NHG DS"/>
              <a:cs typeface="Verizon NHG DS"/>
              <a:sym typeface="Verizon NHG DS"/>
            </a:endParaRPr>
          </a:p>
        </p:txBody>
      </p:sp>
      <p:grpSp>
        <p:nvGrpSpPr>
          <p:cNvPr id="408" name="Google Shape;408;p71"/>
          <p:cNvGrpSpPr/>
          <p:nvPr/>
        </p:nvGrpSpPr>
        <p:grpSpPr>
          <a:xfrm>
            <a:off x="128569" y="1008713"/>
            <a:ext cx="3555300" cy="4001175"/>
            <a:chOff x="171425" y="1344950"/>
            <a:chExt cx="4740400" cy="5334900"/>
          </a:xfrm>
        </p:grpSpPr>
        <p:sp>
          <p:nvSpPr>
            <p:cNvPr id="409" name="Google Shape;409;p71"/>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10" name="Google Shape;410;p71"/>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411" name="Google Shape;411;p71"/>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412" name="Google Shape;412;p71"/>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Architect, develop, and launch the VDS Native Library, a comprehensive suite of reusable, pre-built, and rigorously tested UI components for iOS (UIKit, SwiftUI) and Android (Jetpack Compose). This includes robust documentation, clear usage guidelines, theming capabilities, and direct support channels (e.g., Slack, office hours) ensuring seamless adoption and ongoing maintenance.</a:t>
              </a:r>
              <a:endParaRPr sz="800">
                <a:solidFill>
                  <a:schemeClr val="dk1"/>
                </a:solidFill>
                <a:latin typeface="Verizon NHG TX"/>
                <a:ea typeface="Verizon NHG TX"/>
                <a:cs typeface="Verizon NHG TX"/>
                <a:sym typeface="Verizon NHG TX"/>
              </a:endParaRPr>
            </a:p>
          </p:txBody>
        </p:sp>
        <p:cxnSp>
          <p:nvCxnSpPr>
            <p:cNvPr id="413" name="Google Shape;413;p71"/>
            <p:cNvCxnSpPr/>
            <p:nvPr/>
          </p:nvCxnSpPr>
          <p:spPr>
            <a:xfrm>
              <a:off x="171425" y="33447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414" name="Google Shape;414;p71"/>
            <p:cNvGrpSpPr/>
            <p:nvPr/>
          </p:nvGrpSpPr>
          <p:grpSpPr>
            <a:xfrm>
              <a:off x="978796" y="3410688"/>
              <a:ext cx="3919804" cy="537187"/>
              <a:chOff x="978796" y="3029688"/>
              <a:chExt cx="3919804" cy="537187"/>
            </a:xfrm>
          </p:grpSpPr>
          <p:sp>
            <p:nvSpPr>
              <p:cNvPr id="415" name="Google Shape;415;p71"/>
              <p:cNvSpPr txBox="1"/>
              <p:nvPr/>
            </p:nvSpPr>
            <p:spPr>
              <a:xfrm>
                <a:off x="978800" y="32590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Native developers will experience a significant boost in productivity by using pre-built, VDS-compliant components, reducing boilerplate code and rework. This leads to faster feature delivery, fewer visual defects, and enhanced UI consistency. They gain robust tools to build more accessible applications and can focus on solving unique user problems rather than reinventing common UI elements, fostering better collaboration.</a:t>
                </a:r>
                <a:endParaRPr sz="800">
                  <a:solidFill>
                    <a:schemeClr val="dk1"/>
                  </a:solidFill>
                  <a:latin typeface="Verizon NHG TX"/>
                  <a:ea typeface="Verizon NHG TX"/>
                  <a:cs typeface="Verizon NHG TX"/>
                  <a:sym typeface="Verizon NHG TX"/>
                </a:endParaRPr>
              </a:p>
            </p:txBody>
          </p:sp>
          <p:sp>
            <p:nvSpPr>
              <p:cNvPr id="416" name="Google Shape;416;p71"/>
              <p:cNvSpPr txBox="1"/>
              <p:nvPr/>
            </p:nvSpPr>
            <p:spPr>
              <a:xfrm>
                <a:off x="978796" y="30296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417" name="Google Shape;417;p71"/>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418" name="Google Shape;418;p71"/>
            <p:cNvSpPr txBox="1"/>
            <p:nvPr/>
          </p:nvSpPr>
          <p:spPr>
            <a:xfrm>
              <a:off x="324350" y="34121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419" name="Google Shape;419;p71"/>
            <p:cNvGrpSpPr/>
            <p:nvPr/>
          </p:nvGrpSpPr>
          <p:grpSpPr>
            <a:xfrm>
              <a:off x="978796" y="5159003"/>
              <a:ext cx="3919804" cy="566572"/>
              <a:chOff x="978796" y="3863603"/>
              <a:chExt cx="3919804" cy="566572"/>
            </a:xfrm>
          </p:grpSpPr>
          <p:sp>
            <p:nvSpPr>
              <p:cNvPr id="420" name="Google Shape;420;p71"/>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By empowering native developers, VDS Native Library will deliver superior, more consistent brand experiences across all Verizon apps, enhancing customer satisfaction and trust. It accelerates time-to-market for critical features, improves overall product quality and accessibility, and reduces redundant development costs. This directly increases VDS adoption, maximizing its ROI and strategic value.</a:t>
                </a:r>
                <a:endParaRPr sz="800">
                  <a:solidFill>
                    <a:schemeClr val="dk1"/>
                  </a:solidFill>
                  <a:latin typeface="Verizon NHG TX"/>
                  <a:ea typeface="Verizon NHG TX"/>
                  <a:cs typeface="Verizon NHG TX"/>
                  <a:sym typeface="Verizon NHG TX"/>
                </a:endParaRPr>
              </a:p>
            </p:txBody>
          </p:sp>
          <p:sp>
            <p:nvSpPr>
              <p:cNvPr id="421" name="Google Shape;421;p71"/>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422" name="Google Shape;422;p71"/>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423" name="Google Shape;423;p71"/>
            <p:cNvCxnSpPr/>
            <p:nvPr/>
          </p:nvCxnSpPr>
          <p:spPr>
            <a:xfrm>
              <a:off x="171425" y="51227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424" name="Google Shape;424;p71"/>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25" name="Google Shape;425;p71"/>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426" name="Google Shape;426;p71"/>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427" name="Google Shape;427;p71"/>
          <p:cNvGrpSpPr/>
          <p:nvPr/>
        </p:nvGrpSpPr>
        <p:grpSpPr>
          <a:xfrm>
            <a:off x="3790275" y="2847169"/>
            <a:ext cx="2519006" cy="2162700"/>
            <a:chOff x="5053700" y="3796225"/>
            <a:chExt cx="3358675" cy="2883600"/>
          </a:xfrm>
        </p:grpSpPr>
        <p:sp>
          <p:nvSpPr>
            <p:cNvPr id="428" name="Google Shape;428;p71"/>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29" name="Google Shape;429;p71"/>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sp>
          <p:nvSpPr>
            <p:cNvPr id="430" name="Google Shape;430;p71"/>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Digital Interaction Score</a:t>
              </a:r>
              <a:endParaRPr sz="1000">
                <a:solidFill>
                  <a:schemeClr val="lt1"/>
                </a:solidFill>
                <a:latin typeface="Verizon NHG TX"/>
                <a:ea typeface="Verizon NHG TX"/>
                <a:cs typeface="Verizon NHG TX"/>
                <a:sym typeface="Verizon NHG TX"/>
              </a:endParaRPr>
            </a:p>
          </p:txBody>
        </p:sp>
        <p:sp>
          <p:nvSpPr>
            <p:cNvPr id="431" name="Google Shape;431;p71"/>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Customer Satisfaction</a:t>
              </a:r>
              <a:endParaRPr sz="1000">
                <a:solidFill>
                  <a:schemeClr val="lt1"/>
                </a:solidFill>
                <a:latin typeface="Verizon NHG TX"/>
                <a:ea typeface="Verizon NHG TX"/>
                <a:cs typeface="Verizon NHG TX"/>
                <a:sym typeface="Verizon NHG TX"/>
              </a:endParaRPr>
            </a:p>
          </p:txBody>
        </p:sp>
        <p:sp>
          <p:nvSpPr>
            <p:cNvPr id="432" name="Google Shape;432;p71"/>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Clr>
                  <a:schemeClr val="dk1"/>
                </a:buClr>
                <a:buSzPts val="1100"/>
                <a:buFont typeface="Arial"/>
                <a:buNone/>
              </a:pPr>
              <a:r>
                <a:rPr b="1" lang="en" sz="800">
                  <a:solidFill>
                    <a:schemeClr val="lt1"/>
                  </a:solidFill>
                  <a:latin typeface="Verizon NHG TX"/>
                  <a:ea typeface="Verizon NHG TX"/>
                  <a:cs typeface="Verizon NHG TX"/>
                  <a:sym typeface="Verizon NHG TX"/>
                </a:rPr>
                <a:t>Overall Conversion</a:t>
              </a:r>
              <a:endParaRPr sz="1000">
                <a:solidFill>
                  <a:schemeClr val="lt1"/>
                </a:solidFill>
                <a:latin typeface="Verizon NHG TX"/>
                <a:ea typeface="Verizon NHG TX"/>
                <a:cs typeface="Verizon NHG TX"/>
                <a:sym typeface="Verizon NHG TX"/>
              </a:endParaRPr>
            </a:p>
          </p:txBody>
        </p:sp>
        <p:sp>
          <p:nvSpPr>
            <p:cNvPr id="433" name="Google Shape;433;p71"/>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Prospect Conversion</a:t>
              </a:r>
              <a:endParaRPr sz="1000">
                <a:solidFill>
                  <a:schemeClr val="lt1"/>
                </a:solidFill>
                <a:latin typeface="Verizon NHG TX"/>
                <a:ea typeface="Verizon NHG TX"/>
                <a:cs typeface="Verizon NHG TX"/>
                <a:sym typeface="Verizon NHG TX"/>
              </a:endParaRPr>
            </a:p>
          </p:txBody>
        </p:sp>
        <p:cxnSp>
          <p:nvCxnSpPr>
            <p:cNvPr id="434" name="Google Shape;434;p71"/>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435" name="Google Shape;435;p71"/>
            <p:cNvSpPr/>
            <p:nvPr/>
          </p:nvSpPr>
          <p:spPr>
            <a:xfrm>
              <a:off x="5249857" y="5877700"/>
              <a:ext cx="29964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Other Cost Savings</a:t>
              </a:r>
              <a:endParaRPr sz="1000">
                <a:solidFill>
                  <a:schemeClr val="lt1"/>
                </a:solidFill>
                <a:latin typeface="Verizon NHG TX"/>
                <a:ea typeface="Verizon NHG TX"/>
                <a:cs typeface="Verizon NHG TX"/>
                <a:sym typeface="Verizon NHG TX"/>
              </a:endParaRPr>
            </a:p>
          </p:txBody>
        </p:sp>
      </p:grpSp>
      <p:grpSp>
        <p:nvGrpSpPr>
          <p:cNvPr id="436" name="Google Shape;436;p71"/>
          <p:cNvGrpSpPr/>
          <p:nvPr/>
        </p:nvGrpSpPr>
        <p:grpSpPr>
          <a:xfrm>
            <a:off x="6411375" y="2847169"/>
            <a:ext cx="2601225" cy="2162700"/>
            <a:chOff x="8548500" y="3796225"/>
            <a:chExt cx="3468300" cy="2883600"/>
          </a:xfrm>
        </p:grpSpPr>
        <p:sp>
          <p:nvSpPr>
            <p:cNvPr id="437" name="Google Shape;437;p71"/>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8" name="Google Shape;438;p71"/>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439" name="Google Shape;439;p71"/>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440" name="Google Shape;440;p71"/>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441" name="Google Shape;441;p71"/>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442" name="Google Shape;442;p71"/>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443" name="Google Shape;443;p71"/>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$8.1M</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444" name="Google Shape;444;p71"/>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445" name="Google Shape;445;p71"/>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446" name="Google Shape;446;p71"/>
          <p:cNvSpPr/>
          <p:nvPr/>
        </p:nvSpPr>
        <p:spPr>
          <a:xfrm>
            <a:off x="7185619" y="1008713"/>
            <a:ext cx="18210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47" name="Google Shape;447;p71"/>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448" name="Google Shape;448;p71"/>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sp>
        <p:nvSpPr>
          <p:cNvPr id="449" name="Google Shape;449;p71"/>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0"/>
              </a:spcAft>
              <a:buClr>
                <a:schemeClr val="dk1"/>
              </a:buClr>
              <a:buSzPts val="800"/>
              <a:buFont typeface="Arial"/>
              <a:buNone/>
            </a:pPr>
            <a:r>
              <a:rPr lang="en" sz="900">
                <a:solidFill>
                  <a:schemeClr val="dk1"/>
                </a:solidFill>
                <a:latin typeface="Verizon NHG TX"/>
                <a:ea typeface="Verizon NHG TX"/>
                <a:cs typeface="Verizon NHG TX"/>
                <a:sym typeface="Verizon NHG TX"/>
              </a:rPr>
              <a:t>Bridge the gap for native application development (iOS: UIKit/SwiftUI; Android: Jetpack Compose) by providing a </a:t>
            </a:r>
            <a:r>
              <a:rPr b="1" lang="en" sz="900">
                <a:solidFill>
                  <a:schemeClr val="dk1"/>
                </a:solidFill>
                <a:latin typeface="Verizon NHG TX"/>
                <a:ea typeface="Verizon NHG TX"/>
                <a:cs typeface="Verizon NHG TX"/>
                <a:sym typeface="Verizon NHG TX"/>
              </a:rPr>
              <a:t>comprehensive, coded VDS component library</a:t>
            </a:r>
            <a:r>
              <a:rPr lang="en" sz="900">
                <a:solidFill>
                  <a:schemeClr val="dk1"/>
                </a:solidFill>
                <a:latin typeface="Verizon NHG TX"/>
                <a:ea typeface="Verizon NHG TX"/>
                <a:cs typeface="Verizon NHG TX"/>
                <a:sym typeface="Verizon NHG TX"/>
              </a:rPr>
              <a:t>. </a:t>
            </a:r>
            <a:endParaRPr sz="900">
              <a:solidFill>
                <a:schemeClr val="dk1"/>
              </a:solidFill>
              <a:latin typeface="Verizon NHG TX"/>
              <a:ea typeface="Verizon NHG TX"/>
              <a:cs typeface="Verizon NHG TX"/>
              <a:sym typeface="Verizon NHG TX"/>
            </a:endParaRPr>
          </a:p>
          <a:p>
            <a:pPr indent="0" lvl="0" marL="0" rtl="0" algn="l">
              <a:spcBef>
                <a:spcPts val="6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This will empower native developers to achieve full parity with web VDS users, enabling the creation of </a:t>
            </a:r>
            <a:r>
              <a:rPr b="1" lang="en" sz="900">
                <a:solidFill>
                  <a:schemeClr val="dk1"/>
                </a:solidFill>
                <a:latin typeface="Verizon NHG TX"/>
                <a:ea typeface="Verizon NHG TX"/>
                <a:cs typeface="Verizon NHG TX"/>
                <a:sym typeface="Verizon NHG TX"/>
              </a:rPr>
              <a:t>efficient, consistent, reliable, accessible, scalable, and high-quality</a:t>
            </a:r>
            <a:r>
              <a:rPr lang="en" sz="900">
                <a:solidFill>
                  <a:schemeClr val="dk1"/>
                </a:solidFill>
                <a:latin typeface="Verizon NHG TX"/>
                <a:ea typeface="Verizon NHG TX"/>
                <a:cs typeface="Verizon NHG TX"/>
                <a:sym typeface="Verizon NHG TX"/>
              </a:rPr>
              <a:t> customer experiences on all native platforms.</a:t>
            </a:r>
            <a:endParaRPr sz="800">
              <a:solidFill>
                <a:schemeClr val="dk1"/>
              </a:solidFill>
              <a:latin typeface="Verizon NHG TX"/>
              <a:ea typeface="Verizon NHG TX"/>
              <a:cs typeface="Verizon NHG TX"/>
              <a:sym typeface="Verizon NHG TX"/>
            </a:endParaRPr>
          </a:p>
        </p:txBody>
      </p:sp>
      <p:sp>
        <p:nvSpPr>
          <p:cNvPr id="450" name="Google Shape;450;p71"/>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2"/>
          <p:cNvSpPr txBox="1"/>
          <p:nvPr/>
        </p:nvSpPr>
        <p:spPr>
          <a:xfrm>
            <a:off x="681425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Support &amp; Feedback</a:t>
            </a:r>
            <a:br>
              <a:rPr b="1" i="1"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Both designers and developers will benefit from our dedicated VDS Native support channels, including a responsive Slack community and VDS team office hours.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456" name="Google Shape;456;p72"/>
          <p:cNvSpPr txBox="1"/>
          <p:nvPr/>
        </p:nvSpPr>
        <p:spPr>
          <a:xfrm>
            <a:off x="469612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Native Coded Components (x2)</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Developers will primarily utilize our production-ready VDS Coded Components for iOS (SwiftUI/UIKit) and Android (Jetpack Compose).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The impact is a dramatic reduction in native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457" name="Google Shape;457;p72"/>
          <p:cNvSpPr txBox="1"/>
          <p:nvPr/>
        </p:nvSpPr>
        <p:spPr>
          <a:xfrm>
            <a:off x="258267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Native Figma Components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Designers creating native app experiences will benefit from a hybrid VDS Figma approach.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Existing VDS web components will be used where suitable for native, ensuring cross-platform consistency. This is complemented by a new, dedicated VDS Native Figma library for any uniquely mobile UI components, variants, and states.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strategy, mainly for designers (devs for reference), speeds up native design, ensures UI fidelity, and improves handoff.</a:t>
            </a:r>
            <a:endParaRPr b="1" i="0" sz="800" u="none" cap="none" strike="noStrike">
              <a:solidFill>
                <a:srgbClr val="000000"/>
              </a:solidFill>
              <a:latin typeface="Verizon NHG DS"/>
              <a:ea typeface="Verizon NHG DS"/>
              <a:cs typeface="Verizon NHG DS"/>
              <a:sym typeface="Verizon NHG DS"/>
            </a:endParaRPr>
          </a:p>
        </p:txBody>
      </p:sp>
      <p:sp>
        <p:nvSpPr>
          <p:cNvPr id="458" name="Google Shape;458;p72"/>
          <p:cNvSpPr txBox="1"/>
          <p:nvPr/>
        </p:nvSpPr>
        <p:spPr>
          <a:xfrm>
            <a:off x="45607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Our VDS Native Library will feature comprehensive documentation and clear guidelines, serving as the single source of truth for both designers and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accessible resources detail native principles, component APIs, platform-specific usage (iOS/Android),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native experiences.</a:t>
            </a:r>
            <a:endParaRPr b="0" i="0" sz="800" u="none" cap="none" strike="noStrike">
              <a:solidFill>
                <a:srgbClr val="000000"/>
              </a:solidFill>
              <a:latin typeface="Verizon NHG DS"/>
              <a:ea typeface="Verizon NHG DS"/>
              <a:cs typeface="Verizon NHG DS"/>
              <a:sym typeface="Verizon NHG DS"/>
            </a:endParaRPr>
          </a:p>
        </p:txBody>
      </p:sp>
      <p:sp>
        <p:nvSpPr>
          <p:cNvPr id="459" name="Google Shape;459;p72"/>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 </a:t>
            </a:r>
            <a:r>
              <a:rPr b="1" lang="en" sz="2100">
                <a:solidFill>
                  <a:srgbClr val="EE001E"/>
                </a:solidFill>
                <a:latin typeface="Verizon NHG DS"/>
                <a:ea typeface="Verizon NHG DS"/>
                <a:cs typeface="Verizon NHG DS"/>
                <a:sym typeface="Verizon NHG DS"/>
              </a:rPr>
              <a:t>Native Library</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460" name="Google Shape;460;p72"/>
          <p:cNvSpPr txBox="1"/>
          <p:nvPr/>
        </p:nvSpPr>
        <p:spPr>
          <a:xfrm>
            <a:off x="400051" y="39290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Systems</a:t>
            </a:r>
            <a:endParaRPr b="0" i="0" sz="9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461" name="Google Shape;461;p72"/>
          <p:cNvPicPr preferRelativeResize="0"/>
          <p:nvPr/>
        </p:nvPicPr>
        <p:blipFill rotWithShape="1">
          <a:blip r:embed="rId3">
            <a:alphaModFix/>
          </a:blip>
          <a:srcRect b="22094" l="1286" r="1296" t="14418"/>
          <a:stretch/>
        </p:blipFill>
        <p:spPr>
          <a:xfrm>
            <a:off x="477000"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462" name="Google Shape;462;p72"/>
          <p:cNvPicPr preferRelativeResize="0"/>
          <p:nvPr/>
        </p:nvPicPr>
        <p:blipFill rotWithShape="1">
          <a:blip r:embed="rId3">
            <a:alphaModFix/>
          </a:blip>
          <a:srcRect b="22094" l="1286" r="1296" t="14418"/>
          <a:stretch/>
        </p:blipFill>
        <p:spPr>
          <a:xfrm>
            <a:off x="2586487"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463" name="Google Shape;463;p72"/>
          <p:cNvPicPr preferRelativeResize="0"/>
          <p:nvPr/>
        </p:nvPicPr>
        <p:blipFill rotWithShape="1">
          <a:blip r:embed="rId3">
            <a:alphaModFix/>
          </a:blip>
          <a:srcRect b="22094" l="1286" r="1296" t="14418"/>
          <a:stretch/>
        </p:blipFill>
        <p:spPr>
          <a:xfrm>
            <a:off x="4698287"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464" name="Google Shape;464;p72"/>
          <p:cNvPicPr preferRelativeResize="0"/>
          <p:nvPr/>
        </p:nvPicPr>
        <p:blipFill rotWithShape="1">
          <a:blip r:embed="rId3">
            <a:alphaModFix/>
          </a:blip>
          <a:srcRect b="22094" l="1286" r="1296" t="14418"/>
          <a:stretch/>
        </p:blipFill>
        <p:spPr>
          <a:xfrm>
            <a:off x="6819052" y="1149150"/>
            <a:ext cx="1891200" cy="1232401"/>
          </a:xfrm>
          <a:prstGeom prst="rect">
            <a:avLst/>
          </a:prstGeom>
          <a:noFill/>
          <a:ln cap="flat" cmpd="sng" w="9525">
            <a:solidFill>
              <a:srgbClr val="000000"/>
            </a:solidFill>
            <a:prstDash val="solid"/>
            <a:round/>
            <a:headEnd len="sm" w="sm" type="none"/>
            <a:tailEnd len="sm" w="sm" type="none"/>
          </a:ln>
        </p:spPr>
      </p:pic>
      <p:pic>
        <p:nvPicPr>
          <p:cNvPr id="465" name="Google Shape;465;p72"/>
          <p:cNvPicPr preferRelativeResize="0"/>
          <p:nvPr/>
        </p:nvPicPr>
        <p:blipFill rotWithShape="1">
          <a:blip r:embed="rId4">
            <a:alphaModFix/>
          </a:blip>
          <a:srcRect b="9690" l="0" r="0" t="0"/>
          <a:stretch/>
        </p:blipFill>
        <p:spPr>
          <a:xfrm>
            <a:off x="476250" y="1149150"/>
            <a:ext cx="1890898" cy="1232401"/>
          </a:xfrm>
          <a:prstGeom prst="rect">
            <a:avLst/>
          </a:prstGeom>
          <a:noFill/>
          <a:ln>
            <a:noFill/>
          </a:ln>
        </p:spPr>
      </p:pic>
      <p:pic>
        <p:nvPicPr>
          <p:cNvPr id="466" name="Google Shape;466;p72"/>
          <p:cNvPicPr preferRelativeResize="0"/>
          <p:nvPr/>
        </p:nvPicPr>
        <p:blipFill rotWithShape="1">
          <a:blip r:embed="rId5">
            <a:alphaModFix/>
          </a:blip>
          <a:srcRect b="0" l="7331" r="7331" t="0"/>
          <a:stretch/>
        </p:blipFill>
        <p:spPr>
          <a:xfrm>
            <a:off x="2586475" y="1149150"/>
            <a:ext cx="1890899" cy="1232400"/>
          </a:xfrm>
          <a:prstGeom prst="rect">
            <a:avLst/>
          </a:prstGeom>
          <a:noFill/>
          <a:ln>
            <a:noFill/>
          </a:ln>
        </p:spPr>
      </p:pic>
      <p:pic>
        <p:nvPicPr>
          <p:cNvPr id="467" name="Google Shape;467;p72"/>
          <p:cNvPicPr preferRelativeResize="0"/>
          <p:nvPr/>
        </p:nvPicPr>
        <p:blipFill rotWithShape="1">
          <a:blip r:embed="rId6">
            <a:alphaModFix/>
          </a:blip>
          <a:srcRect b="0" l="0" r="3744" t="0"/>
          <a:stretch/>
        </p:blipFill>
        <p:spPr>
          <a:xfrm>
            <a:off x="4695950" y="1150050"/>
            <a:ext cx="1891200" cy="1232400"/>
          </a:xfrm>
          <a:prstGeom prst="rect">
            <a:avLst/>
          </a:prstGeom>
          <a:noFill/>
          <a:ln>
            <a:noFill/>
          </a:ln>
        </p:spPr>
      </p:pic>
      <p:pic>
        <p:nvPicPr>
          <p:cNvPr id="468" name="Google Shape;468;p72"/>
          <p:cNvPicPr preferRelativeResize="0"/>
          <p:nvPr/>
        </p:nvPicPr>
        <p:blipFill rotWithShape="1">
          <a:blip r:embed="rId7">
            <a:alphaModFix/>
          </a:blip>
          <a:srcRect b="0" l="-279" r="4042" t="0"/>
          <a:stretch/>
        </p:blipFill>
        <p:spPr>
          <a:xfrm>
            <a:off x="6822425" y="1150050"/>
            <a:ext cx="1890900" cy="123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3"/>
          <p:cNvSpPr txBox="1"/>
          <p:nvPr/>
        </p:nvSpPr>
        <p:spPr>
          <a:xfrm>
            <a:off x="4791619" y="4455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Currently, native app developers (iOS/Android) cannot leverage VDS coded components, unlike web teams. This critical gap hinders their efficiency, creates design inconsistencies, impacts product quality, and slows feature delivery. It results in duplicated effort, potential UI/UX divergence from the core brand, and a diminished ability to rapidly iterate on native customer experiences.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Architect, develop, and launch the VDS Native Library, a comprehensive suite of reusable, pre-built, and rigorously tested UI components for iOS (UIKit, SwiftUI) and Android (Jetpack Compose). This includes robust documentation, clear usage guidelines, theming capabilities, and direct support channels (e.g., Slack, office hours) ensuring seamless adoption and ongoing maintenance.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Native developers will experience a significant boost in productivity by using pre-built, VDS-compliant components, reducing boilerplate code and rework. This leads to faster feature delivery, fewer visual defects, and enhanced UI consistency. They gain robust tools to build more accessible applications and can focus on solving unique user problems rather than reinventing common UI elements, fostering better collaboration.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By empowering native developers, VDS Native Library will deliver superior, more consistent brand experiences across all Verizon apps, enhancing customer satisfaction and trust. It accelerates time-to-market for critical features, improves overall product quality and accessibility, and reduces redundant development costs. This directly increases VDS adoption, maximizing its ROI and strategic value to the business.</a:t>
            </a:r>
            <a:endParaRPr b="1" sz="800">
              <a:solidFill>
                <a:srgbClr val="EE001E"/>
              </a:solidFill>
              <a:latin typeface="Verizon NHG DS"/>
              <a:ea typeface="Verizon NHG DS"/>
              <a:cs typeface="Verizon NHG DS"/>
              <a:sym typeface="Verizon NHG DS"/>
            </a:endParaRPr>
          </a:p>
        </p:txBody>
      </p:sp>
      <p:sp>
        <p:nvSpPr>
          <p:cNvPr id="475" name="Google Shape;475;p7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3"/>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Native Library</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Functional Expansion</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477" name="Google Shape;477;p73"/>
          <p:cNvSpPr txBox="1"/>
          <p:nvPr/>
        </p:nvSpPr>
        <p:spPr>
          <a:xfrm>
            <a:off x="508750" y="3478565"/>
            <a:ext cx="3606900" cy="122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0"/>
              </a:spcAft>
              <a:buClr>
                <a:schemeClr val="dk1"/>
              </a:buClr>
              <a:buSzPts val="800"/>
              <a:buFont typeface="Arial"/>
              <a:buNone/>
            </a:pPr>
            <a:r>
              <a:rPr lang="en" sz="1000">
                <a:solidFill>
                  <a:schemeClr val="dk1"/>
                </a:solidFill>
                <a:latin typeface="Verizon NHG DS"/>
                <a:ea typeface="Verizon NHG DS"/>
                <a:cs typeface="Verizon NHG DS"/>
                <a:sym typeface="Verizon NHG DS"/>
              </a:rPr>
              <a:t>Our North Star is to bridge the gap for native application development (iOS: UIKit/SwiftUI; Android: Jetpack Compose) by providing a </a:t>
            </a:r>
            <a:r>
              <a:rPr b="1" lang="en" sz="1000">
                <a:solidFill>
                  <a:schemeClr val="dk1"/>
                </a:solidFill>
                <a:latin typeface="Verizon NHG DS"/>
                <a:ea typeface="Verizon NHG DS"/>
                <a:cs typeface="Verizon NHG DS"/>
                <a:sym typeface="Verizon NHG DS"/>
              </a:rPr>
              <a:t>comprehensive, coded VDS component library</a:t>
            </a:r>
            <a:r>
              <a:rPr lang="en" sz="1000">
                <a:solidFill>
                  <a:schemeClr val="dk1"/>
                </a:solidFill>
                <a:latin typeface="Verizon NHG DS"/>
                <a:ea typeface="Verizon NHG DS"/>
                <a:cs typeface="Verizon NHG DS"/>
                <a:sym typeface="Verizon NHG DS"/>
              </a:rPr>
              <a:t>. </a:t>
            </a:r>
            <a:endParaRPr sz="1000">
              <a:solidFill>
                <a:schemeClr val="dk1"/>
              </a:solidFill>
              <a:latin typeface="Verizon NHG DS"/>
              <a:ea typeface="Verizon NHG DS"/>
              <a:cs typeface="Verizon NHG DS"/>
              <a:sym typeface="Verizon NHG DS"/>
            </a:endParaRPr>
          </a:p>
          <a:p>
            <a:pPr indent="0" lvl="0" marL="0" marR="0" rtl="0" algn="l">
              <a:lnSpc>
                <a:spcPct val="100000"/>
              </a:lnSpc>
              <a:spcBef>
                <a:spcPts val="600"/>
              </a:spcBef>
              <a:spcAft>
                <a:spcPts val="600"/>
              </a:spcAft>
              <a:buClr>
                <a:schemeClr val="dk1"/>
              </a:buClr>
              <a:buSzPts val="800"/>
              <a:buFont typeface="Arial"/>
              <a:buNone/>
            </a:pPr>
            <a:r>
              <a:rPr lang="en" sz="1000">
                <a:solidFill>
                  <a:schemeClr val="dk1"/>
                </a:solidFill>
                <a:latin typeface="Verizon NHG DS"/>
                <a:ea typeface="Verizon NHG DS"/>
                <a:cs typeface="Verizon NHG DS"/>
                <a:sym typeface="Verizon NHG DS"/>
              </a:rPr>
              <a:t>This will empower native developers to achieve full parity with web VDS users, enabling the creation of </a:t>
            </a:r>
            <a:r>
              <a:rPr b="1" lang="en" sz="1000">
                <a:solidFill>
                  <a:schemeClr val="dk1"/>
                </a:solidFill>
                <a:latin typeface="Verizon NHG DS"/>
                <a:ea typeface="Verizon NHG DS"/>
                <a:cs typeface="Verizon NHG DS"/>
                <a:sym typeface="Verizon NHG DS"/>
              </a:rPr>
              <a:t>efficient, consistent, reliable, accessible, scalable, and high-quality</a:t>
            </a:r>
            <a:r>
              <a:rPr lang="en" sz="1000">
                <a:solidFill>
                  <a:schemeClr val="dk1"/>
                </a:solidFill>
                <a:latin typeface="Verizon NHG DS"/>
                <a:ea typeface="Verizon NHG DS"/>
                <a:cs typeface="Verizon NHG DS"/>
                <a:sym typeface="Verizon NHG DS"/>
              </a:rPr>
              <a:t> customer experiences on all native platforms.</a:t>
            </a:r>
            <a:endParaRPr b="0" i="0" sz="1000" u="none" cap="none" strike="noStrike">
              <a:solidFill>
                <a:srgbClr val="1F1F1F"/>
              </a:solidFill>
              <a:latin typeface="Verizon NHG DS"/>
              <a:ea typeface="Verizon NHG DS"/>
              <a:cs typeface="Verizon NHG DS"/>
              <a:sym typeface="Verizon NHG DS"/>
            </a:endParaRPr>
          </a:p>
        </p:txBody>
      </p:sp>
      <p:grpSp>
        <p:nvGrpSpPr>
          <p:cNvPr id="478" name="Google Shape;478;p73"/>
          <p:cNvGrpSpPr/>
          <p:nvPr/>
        </p:nvGrpSpPr>
        <p:grpSpPr>
          <a:xfrm>
            <a:off x="1601419" y="377006"/>
            <a:ext cx="1421550" cy="1393875"/>
            <a:chOff x="2135225" y="502675"/>
            <a:chExt cx="1895400" cy="1858500"/>
          </a:xfrm>
        </p:grpSpPr>
        <p:sp>
          <p:nvSpPr>
            <p:cNvPr id="479" name="Google Shape;479;p73"/>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480" name="Google Shape;480;p73"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481" name="Google Shape;481;p73"/>
          <p:cNvGrpSpPr/>
          <p:nvPr/>
        </p:nvGrpSpPr>
        <p:grpSpPr>
          <a:xfrm>
            <a:off x="6893719" y="154838"/>
            <a:ext cx="2104650" cy="212400"/>
            <a:chOff x="9242425" y="104850"/>
            <a:chExt cx="2806200" cy="283200"/>
          </a:xfrm>
        </p:grpSpPr>
        <p:sp>
          <p:nvSpPr>
            <p:cNvPr id="482" name="Google Shape;482;p73"/>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483" name="Google Shape;483;p73"/>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484" name="Google Shape;484;p73"/>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491" name="Google Shape;491;p74"/>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Expansion: VDS Native Library</a:t>
            </a:r>
            <a:endParaRPr/>
          </a:p>
        </p:txBody>
      </p:sp>
      <p:graphicFrame>
        <p:nvGraphicFramePr>
          <p:cNvPr id="492" name="Google Shape;492;p74"/>
          <p:cNvGraphicFramePr/>
          <p:nvPr/>
        </p:nvGraphicFramePr>
        <p:xfrm>
          <a:off x="429394" y="1230450"/>
          <a:ext cx="3000000" cy="3000000"/>
        </p:xfrm>
        <a:graphic>
          <a:graphicData uri="http://schemas.openxmlformats.org/drawingml/2006/table">
            <a:tbl>
              <a:tblPr>
                <a:noFill/>
                <a:tableStyleId>{08AE7D56-3E42-4067-AACA-77C4D7927B7B}</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493" name="Google Shape;493;p74"/>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494" name="Google Shape;494;p74"/>
          <p:cNvGraphicFramePr/>
          <p:nvPr/>
        </p:nvGraphicFramePr>
        <p:xfrm>
          <a:off x="4665081" y="1230450"/>
          <a:ext cx="3000000" cy="3000000"/>
        </p:xfrm>
        <a:graphic>
          <a:graphicData uri="http://schemas.openxmlformats.org/drawingml/2006/table">
            <a:tbl>
              <a:tblPr>
                <a:noFill/>
                <a:tableStyleId>{08AE7D56-3E42-4067-AACA-77C4D7927B7B}</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a:t>
                      </a:r>
                      <a:r>
                        <a:rPr lang="en" sz="800" u="sng" cap="none" strike="noStrike">
                          <a:solidFill>
                            <a:schemeClr val="dk1"/>
                          </a:solidFill>
                          <a:latin typeface="Verizon NHG TX"/>
                          <a:ea typeface="Verizon NHG TX"/>
                          <a:cs typeface="Verizon NHG TX"/>
                          <a:sym typeface="Verizon NHG TX"/>
                        </a:rPr>
                        <a:t>8</a:t>
                      </a:r>
                      <a:r>
                        <a:rPr lang="en" sz="800" u="sng">
                          <a:solidFill>
                            <a:schemeClr val="dk1"/>
                          </a:solidFill>
                          <a:latin typeface="Verizon NHG TX"/>
                          <a:ea typeface="Verizon NHG TX"/>
                          <a:cs typeface="Verizon NHG TX"/>
                          <a:sym typeface="Verizon NHG TX"/>
                        </a:rPr>
                        <a:t>.1M</a:t>
                      </a:r>
                      <a:r>
                        <a:rPr lang="en" sz="800" u="none" cap="none" strike="noStrike">
                          <a:solidFill>
                            <a:schemeClr val="dk1"/>
                          </a:solidFill>
                          <a:latin typeface="Verizon NHG TX"/>
                          <a:ea typeface="Verizon NHG TX"/>
                          <a:cs typeface="Verizon NHG TX"/>
                          <a:sym typeface="Verizon NHG TX"/>
                        </a:rPr>
                        <a:t>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495" name="Google Shape;495;p74"/>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496" name="Google Shape;496;p74"/>
          <p:cNvGrpSpPr/>
          <p:nvPr/>
        </p:nvGrpSpPr>
        <p:grpSpPr>
          <a:xfrm>
            <a:off x="6665119" y="154838"/>
            <a:ext cx="2104650" cy="212400"/>
            <a:chOff x="9242425" y="104850"/>
            <a:chExt cx="2806200" cy="283200"/>
          </a:xfrm>
        </p:grpSpPr>
        <p:sp>
          <p:nvSpPr>
            <p:cNvPr id="497" name="Google Shape;497;p74"/>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498" name="Google Shape;498;p74"/>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499" name="Google Shape;499;p74"/>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5"/>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a:t>
            </a:r>
            <a:br>
              <a:rPr lang="en"/>
            </a:br>
            <a:r>
              <a:rPr lang="en"/>
              <a:t>Retail Expansion</a:t>
            </a:r>
            <a:endParaRPr/>
          </a:p>
        </p:txBody>
      </p:sp>
      <p:sp>
        <p:nvSpPr>
          <p:cNvPr id="506" name="Google Shape;506;p75"/>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507" name="Google Shape;507;p75"/>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508" name="Google Shape;508;p75"/>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509" name="Google Shape;509;p75"/>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4" name="Shape 514"/>
        <p:cNvGrpSpPr/>
        <p:nvPr/>
      </p:nvGrpSpPr>
      <p:grpSpPr>
        <a:xfrm>
          <a:off x="0" y="0"/>
          <a:ext cx="0" cy="0"/>
          <a:chOff x="0" y="0"/>
          <a:chExt cx="0" cy="0"/>
        </a:xfrm>
      </p:grpSpPr>
      <p:sp>
        <p:nvSpPr>
          <p:cNvPr id="515" name="Google Shape;515;p76"/>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516" name="Google Shape;516;p76"/>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517" name="Google Shape;517;p76"/>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518" name="Google Shape;518;p76"/>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chemeClr val="accent6"/>
                </a:solidFill>
                <a:latin typeface="Verizon NHG DS"/>
                <a:ea typeface="Verizon NHG DS"/>
                <a:cs typeface="Verizon NHG DS"/>
                <a:sym typeface="Verizon NHG DS"/>
              </a:rPr>
              <a:t>Retail Expansion</a:t>
            </a:r>
            <a:endParaRPr b="1" sz="2100">
              <a:solidFill>
                <a:srgbClr val="EE001E"/>
              </a:solidFill>
              <a:latin typeface="Verizon NHG DS"/>
              <a:ea typeface="Verizon NHG DS"/>
              <a:cs typeface="Verizon NHG DS"/>
              <a:sym typeface="Verizon NHG DS"/>
            </a:endParaRPr>
          </a:p>
        </p:txBody>
      </p:sp>
      <p:grpSp>
        <p:nvGrpSpPr>
          <p:cNvPr id="519" name="Google Shape;519;p76"/>
          <p:cNvGrpSpPr/>
          <p:nvPr/>
        </p:nvGrpSpPr>
        <p:grpSpPr>
          <a:xfrm>
            <a:off x="128569" y="1008713"/>
            <a:ext cx="3555300" cy="4001175"/>
            <a:chOff x="171425" y="1344950"/>
            <a:chExt cx="4740400" cy="5334900"/>
          </a:xfrm>
        </p:grpSpPr>
        <p:sp>
          <p:nvSpPr>
            <p:cNvPr id="520" name="Google Shape;520;p76"/>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21" name="Google Shape;521;p76"/>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522" name="Google Shape;522;p76"/>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523" name="Google Shape;523;p76"/>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Introducing "VDS for Retail": a purpose-built expansion of our core VDS, tailored for the unique demands of in-store digital interfaces. Retail designers will define the components, and the VDS team will initially develop them, ensuring quality and consistency. This provides a ready-made, expert toolkit to transform our retail digital presence.</a:t>
              </a:r>
              <a:endParaRPr sz="800">
                <a:solidFill>
                  <a:schemeClr val="dk1"/>
                </a:solidFill>
                <a:latin typeface="Verizon NHG TX"/>
                <a:ea typeface="Verizon NHG TX"/>
                <a:cs typeface="Verizon NHG TX"/>
                <a:sym typeface="Verizon NHG TX"/>
              </a:endParaRPr>
            </a:p>
          </p:txBody>
        </p:sp>
        <p:cxnSp>
          <p:nvCxnSpPr>
            <p:cNvPr id="524" name="Google Shape;524;p76"/>
            <p:cNvCxnSpPr/>
            <p:nvPr/>
          </p:nvCxnSpPr>
          <p:spPr>
            <a:xfrm>
              <a:off x="171425" y="32431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525" name="Google Shape;525;p76"/>
            <p:cNvGrpSpPr/>
            <p:nvPr/>
          </p:nvGrpSpPr>
          <p:grpSpPr>
            <a:xfrm>
              <a:off x="978796" y="3512288"/>
              <a:ext cx="3919804" cy="537187"/>
              <a:chOff x="978796" y="3131288"/>
              <a:chExt cx="3919804" cy="537187"/>
            </a:xfrm>
          </p:grpSpPr>
          <p:sp>
            <p:nvSpPr>
              <p:cNvPr id="526" name="Google Shape;526;p76"/>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Retail design and development teams will be empowered with VDS components crafted specifically for their unique environments. This means faster design cycles, streamlined development, and the ability to rapidly deploy consistent, high-quality, and accessible retail experiences. They can focus on retail innovation, backed by VDS precision.</a:t>
                </a:r>
                <a:endParaRPr sz="800">
                  <a:solidFill>
                    <a:schemeClr val="dk1"/>
                  </a:solidFill>
                  <a:latin typeface="Verizon NHG TX"/>
                  <a:ea typeface="Verizon NHG TX"/>
                  <a:cs typeface="Verizon NHG TX"/>
                  <a:sym typeface="Verizon NHG TX"/>
                </a:endParaRPr>
              </a:p>
            </p:txBody>
          </p:sp>
          <p:sp>
            <p:nvSpPr>
              <p:cNvPr id="527" name="Google Shape;527;p76"/>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528" name="Google Shape;528;p76"/>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529" name="Google Shape;529;p76"/>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530" name="Google Shape;530;p76"/>
            <p:cNvGrpSpPr/>
            <p:nvPr/>
          </p:nvGrpSpPr>
          <p:grpSpPr>
            <a:xfrm>
              <a:off x="978796" y="5159003"/>
              <a:ext cx="3919804" cy="566572"/>
              <a:chOff x="978796" y="3863603"/>
              <a:chExt cx="3919804" cy="566572"/>
            </a:xfrm>
          </p:grpSpPr>
          <p:sp>
            <p:nvSpPr>
              <p:cNvPr id="531" name="Google Shape;531;p76"/>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This initiative will electrify our in-store brand presence and customer engagement on all retail digital touchpoints. Expect improved transaction speed, enhanced customer satisfaction in stores, and a stronger, unified brand story. Crucially, "VDS for Retail" validates a scalable model for future VDS specializations, boosting system ROI and adaptability.</a:t>
                </a:r>
                <a:endParaRPr sz="800">
                  <a:solidFill>
                    <a:schemeClr val="dk1"/>
                  </a:solidFill>
                  <a:latin typeface="Verizon NHG TX"/>
                  <a:ea typeface="Verizon NHG TX"/>
                  <a:cs typeface="Verizon NHG TX"/>
                  <a:sym typeface="Verizon NHG TX"/>
                </a:endParaRPr>
              </a:p>
            </p:txBody>
          </p:sp>
          <p:sp>
            <p:nvSpPr>
              <p:cNvPr id="532" name="Google Shape;532;p76"/>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533" name="Google Shape;533;p76"/>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534" name="Google Shape;534;p76"/>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535" name="Google Shape;535;p76"/>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36" name="Google Shape;536;p76"/>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537" name="Google Shape;537;p76"/>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538" name="Google Shape;538;p76"/>
          <p:cNvGrpSpPr/>
          <p:nvPr/>
        </p:nvGrpSpPr>
        <p:grpSpPr>
          <a:xfrm>
            <a:off x="6411375" y="2847169"/>
            <a:ext cx="2601225" cy="2162700"/>
            <a:chOff x="8548500" y="3796225"/>
            <a:chExt cx="3468300" cy="2883600"/>
          </a:xfrm>
        </p:grpSpPr>
        <p:sp>
          <p:nvSpPr>
            <p:cNvPr id="539" name="Google Shape;539;p76"/>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0" name="Google Shape;540;p76"/>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541" name="Google Shape;541;p76"/>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542" name="Google Shape;542;p76"/>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543" name="Google Shape;543;p76"/>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544" name="Google Shape;544;p76"/>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545" name="Google Shape;545;p76"/>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546" name="Google Shape;546;p76"/>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547" name="Google Shape;547;p76"/>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548" name="Google Shape;548;p76"/>
          <p:cNvSpPr/>
          <p:nvPr/>
        </p:nvSpPr>
        <p:spPr>
          <a:xfrm>
            <a:off x="7185619" y="1008713"/>
            <a:ext cx="18210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9" name="Google Shape;549;p76"/>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550" name="Google Shape;550;p76"/>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551" name="Google Shape;551;p76"/>
          <p:cNvGrpSpPr/>
          <p:nvPr/>
        </p:nvGrpSpPr>
        <p:grpSpPr>
          <a:xfrm>
            <a:off x="3790275" y="2847169"/>
            <a:ext cx="2519006" cy="2162700"/>
            <a:chOff x="5053700" y="3796225"/>
            <a:chExt cx="3358675" cy="2883600"/>
          </a:xfrm>
        </p:grpSpPr>
        <p:sp>
          <p:nvSpPr>
            <p:cNvPr id="552" name="Google Shape;552;p76"/>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53" name="Google Shape;553;p76"/>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cxnSp>
          <p:nvCxnSpPr>
            <p:cNvPr id="554" name="Google Shape;554;p76"/>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555" name="Google Shape;555;p76"/>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This initiative will deliver a specialized VDS toolkit for our unique Retail experiences, kiosks, POS, passive displays, ensuring seamless, on-brand customer interactions. This is creating a new model for VDS: a core system that grows through expansion packs to better support every customer touchpoint.</a:t>
            </a:r>
            <a:endParaRPr sz="900">
              <a:solidFill>
                <a:schemeClr val="dk1"/>
              </a:solidFill>
              <a:latin typeface="Verizon NHG TX"/>
              <a:ea typeface="Verizon NHG TX"/>
              <a:cs typeface="Verizon NHG TX"/>
              <a:sym typeface="Verizon NHG TX"/>
            </a:endParaRPr>
          </a:p>
        </p:txBody>
      </p:sp>
      <p:sp>
        <p:nvSpPr>
          <p:cNvPr id="556" name="Google Shape;556;p76"/>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557" name="Google Shape;557;p76"/>
          <p:cNvSpPr/>
          <p:nvPr/>
        </p:nvSpPr>
        <p:spPr>
          <a:xfrm>
            <a:off x="5118037" y="3588749"/>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Digital Interaction Score</a:t>
            </a:r>
            <a:endParaRPr sz="1000">
              <a:solidFill>
                <a:srgbClr val="FFFFFF"/>
              </a:solidFill>
              <a:latin typeface="Verizon NHG TX"/>
              <a:ea typeface="Verizon NHG TX"/>
              <a:cs typeface="Verizon NHG TX"/>
              <a:sym typeface="Verizon NHG TX"/>
            </a:endParaRPr>
          </a:p>
        </p:txBody>
      </p:sp>
      <p:sp>
        <p:nvSpPr>
          <p:cNvPr id="558" name="Google Shape;558;p76"/>
          <p:cNvSpPr/>
          <p:nvPr/>
        </p:nvSpPr>
        <p:spPr>
          <a:xfrm>
            <a:off x="3931075" y="3588740"/>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Customer Satisfaction</a:t>
            </a:r>
            <a:endParaRPr sz="1000">
              <a:solidFill>
                <a:srgbClr val="FFFFFF"/>
              </a:solidFill>
              <a:latin typeface="Verizon NHG TX"/>
              <a:ea typeface="Verizon NHG TX"/>
              <a:cs typeface="Verizon NHG TX"/>
              <a:sym typeface="Verizon NHG TX"/>
            </a:endParaRPr>
          </a:p>
        </p:txBody>
      </p:sp>
      <p:sp>
        <p:nvSpPr>
          <p:cNvPr id="559" name="Google Shape;559;p76"/>
          <p:cNvSpPr/>
          <p:nvPr/>
        </p:nvSpPr>
        <p:spPr>
          <a:xfrm>
            <a:off x="3931050" y="4132315"/>
            <a:ext cx="22362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Other Cost Savings</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Support &amp; Feedback</a:t>
            </a:r>
            <a:br>
              <a:rPr b="1" i="1"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Developers will benefit from our VDS Retail  support channels, including a responsive Slack community and VDS team office hours.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565" name="Google Shape;565;p77"/>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React Coded Components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Developers will primarily utilize our production-ready VDS Coded Components for React development.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The impact is a dramatic reduction in retail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566" name="Google Shape;566;p77"/>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 VDS Retail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sp>
        <p:nvSpPr>
          <p:cNvPr id="567" name="Google Shape;567;p77"/>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 </a:t>
            </a:r>
            <a:r>
              <a:rPr b="1" lang="en" sz="2100">
                <a:solidFill>
                  <a:srgbClr val="EE001E"/>
                </a:solidFill>
                <a:latin typeface="Verizon NHG DS"/>
                <a:ea typeface="Verizon NHG DS"/>
                <a:cs typeface="Verizon NHG DS"/>
                <a:sym typeface="Verizon NHG DS"/>
              </a:rPr>
              <a:t>Retail Expansion</a:t>
            </a:r>
            <a:endParaRPr b="1" sz="2100">
              <a:solidFill>
                <a:srgbClr val="EE001E"/>
              </a:solidFill>
              <a:latin typeface="Verizon NHG DS"/>
              <a:ea typeface="Verizon NHG DS"/>
              <a:cs typeface="Verizon NHG DS"/>
              <a:sym typeface="Verizon NHG DS"/>
            </a:endParaRPr>
          </a:p>
        </p:txBody>
      </p:sp>
      <p:sp>
        <p:nvSpPr>
          <p:cNvPr id="568" name="Google Shape;568;p77"/>
          <p:cNvSpPr txBox="1"/>
          <p:nvPr/>
        </p:nvSpPr>
        <p:spPr>
          <a:xfrm>
            <a:off x="455851" y="40085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a:t>
            </a:r>
            <a:endParaRPr sz="900">
              <a:latin typeface="Verizon NHG TX"/>
              <a:ea typeface="Verizon NHG TX"/>
              <a:cs typeface="Verizon NHG TX"/>
              <a:sym typeface="Verizon NHG TX"/>
            </a:endParaRPr>
          </a:p>
        </p:txBody>
      </p:sp>
      <p:pic>
        <p:nvPicPr>
          <p:cNvPr descr="placeholder image that uses icon representative of a design system" id="569" name="Google Shape;569;p77"/>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570" name="Google Shape;570;p77"/>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571" name="Google Shape;571;p77"/>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chemeClr val="dk1"/>
            </a:solidFill>
            <a:prstDash val="solid"/>
            <a:round/>
            <a:headEnd len="sm" w="sm" type="none"/>
            <a:tailEnd len="sm" w="sm" type="none"/>
          </a:ln>
        </p:spPr>
      </p:pic>
      <p:pic>
        <p:nvPicPr>
          <p:cNvPr id="572" name="Google Shape;572;p77"/>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573" name="Google Shape;573;p77"/>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574" name="Google Shape;574;p77"/>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81" name="Google Shape;581;p78"/>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Retail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582" name="Google Shape;582;p78"/>
          <p:cNvSpPr txBox="1"/>
          <p:nvPr/>
        </p:nvSpPr>
        <p:spPr>
          <a:xfrm>
            <a:off x="508700" y="3410215"/>
            <a:ext cx="36069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This initiative will deliver a specialized VDS toolkit for our unique Retail experiences, kiosks, POS, passive displays, ensuring seamless, on-brand customer interactions. This is creating a new model for VDS: a core system that grows through expansion packs to better support every customer touchpoint.</a:t>
            </a:r>
            <a:endParaRPr b="0" i="0" sz="1100" u="none" cap="none" strike="noStrike">
              <a:solidFill>
                <a:srgbClr val="1F1F1F"/>
              </a:solidFill>
              <a:latin typeface="Verizon NHG DS"/>
              <a:ea typeface="Verizon NHG DS"/>
              <a:cs typeface="Verizon NHG DS"/>
              <a:sym typeface="Verizon NHG DS"/>
            </a:endParaRPr>
          </a:p>
        </p:txBody>
      </p:sp>
      <p:sp>
        <p:nvSpPr>
          <p:cNvPr id="583" name="Google Shape;583;p78"/>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Our vital in-store digital experiences (kiosks, POS, displays) currently operate without dedicated VDS components. The teams are able to utilize our core VDS component set but these do not fully meet the specific challenges faced within the Retail channel. The lack of Retail specific components creates a critical gap, risking inconsistent branding, slower rollouts, and subpar user engagement where customers make key decisions. We don’t want to  miss the opportunity to deliver truly unified, high-quality experiences in our retail footprint.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for Retail": a purpose-built expansion of our core VDS, tailored for the unique demands of in-store digital interfaces. Retail designers will define the components, and the VDS team will initially develop them, ensuring quality and consistency. This provides a ready-made, expert toolkit to transform our retail digital presence.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Retail design and development teams will be empowered with VDS components crafted specifically for their unique environments. This means faster design cycles, streamlined development, and the ability to rapidly deploy consistent, high-quality, and accessible retail experiences. They can focus on retail innovation, backed by VDS precision.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initiative will electrify our in-store brand presence and customer engagement on all retail digital touchpoints. Expect improved transaction speed, enhanced customer satisfaction in stores, and a stronger, unified brand story. Crucially, "VDS for Retail" validates a scalable model for future VDS specializations, boosting system ROI and adaptability.</a:t>
            </a:r>
            <a:endParaRPr b="1" sz="1500">
              <a:solidFill>
                <a:schemeClr val="dk1"/>
              </a:solidFill>
              <a:latin typeface="Verizon NHG DS"/>
              <a:ea typeface="Verizon NHG DS"/>
              <a:cs typeface="Verizon NHG DS"/>
              <a:sym typeface="Verizon NHG DS"/>
            </a:endParaRPr>
          </a:p>
        </p:txBody>
      </p:sp>
      <p:grpSp>
        <p:nvGrpSpPr>
          <p:cNvPr id="584" name="Google Shape;584;p78"/>
          <p:cNvGrpSpPr/>
          <p:nvPr/>
        </p:nvGrpSpPr>
        <p:grpSpPr>
          <a:xfrm>
            <a:off x="1601419" y="377006"/>
            <a:ext cx="1421550" cy="1393875"/>
            <a:chOff x="2135225" y="502675"/>
            <a:chExt cx="1895400" cy="1858500"/>
          </a:xfrm>
        </p:grpSpPr>
        <p:sp>
          <p:nvSpPr>
            <p:cNvPr id="585" name="Google Shape;585;p78"/>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586" name="Google Shape;586;p78"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587" name="Google Shape;587;p78"/>
          <p:cNvGrpSpPr/>
          <p:nvPr/>
        </p:nvGrpSpPr>
        <p:grpSpPr>
          <a:xfrm>
            <a:off x="6893719" y="154838"/>
            <a:ext cx="2104650" cy="212400"/>
            <a:chOff x="9242425" y="104850"/>
            <a:chExt cx="2806200" cy="283200"/>
          </a:xfrm>
        </p:grpSpPr>
        <p:sp>
          <p:nvSpPr>
            <p:cNvPr id="588" name="Google Shape;588;p78"/>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589" name="Google Shape;589;p78"/>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590" name="Google Shape;590;p78"/>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597" name="Google Shape;597;p79"/>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598" name="Google Shape;598;p79"/>
          <p:cNvGraphicFramePr/>
          <p:nvPr/>
        </p:nvGraphicFramePr>
        <p:xfrm>
          <a:off x="429394" y="1230450"/>
          <a:ext cx="3000000" cy="3000000"/>
        </p:xfrm>
        <a:graphic>
          <a:graphicData uri="http://schemas.openxmlformats.org/drawingml/2006/table">
            <a:tbl>
              <a:tblPr>
                <a:noFill/>
                <a:tableStyleId>{08AE7D56-3E42-4067-AACA-77C4D7927B7B}</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599" name="Google Shape;599;p79"/>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600" name="Google Shape;600;p79"/>
          <p:cNvGraphicFramePr/>
          <p:nvPr/>
        </p:nvGraphicFramePr>
        <p:xfrm>
          <a:off x="4665081" y="1230450"/>
          <a:ext cx="3000000" cy="3000000"/>
        </p:xfrm>
        <a:graphic>
          <a:graphicData uri="http://schemas.openxmlformats.org/drawingml/2006/table">
            <a:tbl>
              <a:tblPr>
                <a:noFill/>
                <a:tableStyleId>{08AE7D56-3E42-4067-AACA-77C4D7927B7B}</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601" name="Google Shape;601;p79"/>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602" name="Google Shape;602;p79"/>
          <p:cNvGrpSpPr/>
          <p:nvPr/>
        </p:nvGrpSpPr>
        <p:grpSpPr>
          <a:xfrm>
            <a:off x="6665119" y="154838"/>
            <a:ext cx="2104650" cy="212400"/>
            <a:chOff x="9242425" y="104850"/>
            <a:chExt cx="2806200" cy="283200"/>
          </a:xfrm>
        </p:grpSpPr>
        <p:sp>
          <p:nvSpPr>
            <p:cNvPr id="603" name="Google Shape;603;p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604" name="Google Shape;604;p79"/>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605" name="Google Shape;605;p79"/>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8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sz="3300"/>
              <a:t>VDS </a:t>
            </a:r>
            <a:br>
              <a:rPr lang="en" sz="3300"/>
            </a:br>
            <a:r>
              <a:rPr lang="en" sz="3300"/>
              <a:t>Conversational Expansion</a:t>
            </a:r>
            <a:endParaRPr sz="3300"/>
          </a:p>
        </p:txBody>
      </p:sp>
      <p:sp>
        <p:nvSpPr>
          <p:cNvPr id="612" name="Google Shape;612;p80"/>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613" name="Google Shape;613;p80"/>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614" name="Google Shape;614;p80"/>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615" name="Google Shape;615;p80"/>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0" name="Shape 620"/>
        <p:cNvGrpSpPr/>
        <p:nvPr/>
      </p:nvGrpSpPr>
      <p:grpSpPr>
        <a:xfrm>
          <a:off x="0" y="0"/>
          <a:ext cx="0" cy="0"/>
          <a:chOff x="0" y="0"/>
          <a:chExt cx="0" cy="0"/>
        </a:xfrm>
      </p:grpSpPr>
      <p:sp>
        <p:nvSpPr>
          <p:cNvPr id="621" name="Google Shape;621;p81"/>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622" name="Google Shape;622;p81"/>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623" name="Google Shape;623;p81"/>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624" name="Google Shape;624;p81"/>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rgbClr val="EE001E"/>
                </a:solidFill>
                <a:latin typeface="Verizon NHG DS"/>
                <a:ea typeface="Verizon NHG DS"/>
                <a:cs typeface="Verizon NHG DS"/>
                <a:sym typeface="Verizon NHG DS"/>
              </a:rPr>
              <a:t>Conversational Expansion</a:t>
            </a:r>
            <a:endParaRPr b="1" sz="2100">
              <a:solidFill>
                <a:srgbClr val="EE001E"/>
              </a:solidFill>
              <a:latin typeface="Verizon NHG DS"/>
              <a:ea typeface="Verizon NHG DS"/>
              <a:cs typeface="Verizon NHG DS"/>
              <a:sym typeface="Verizon NHG DS"/>
            </a:endParaRPr>
          </a:p>
        </p:txBody>
      </p:sp>
      <p:grpSp>
        <p:nvGrpSpPr>
          <p:cNvPr id="625" name="Google Shape;625;p81"/>
          <p:cNvGrpSpPr/>
          <p:nvPr/>
        </p:nvGrpSpPr>
        <p:grpSpPr>
          <a:xfrm>
            <a:off x="128569" y="1008713"/>
            <a:ext cx="3555300" cy="4001175"/>
            <a:chOff x="171425" y="1344950"/>
            <a:chExt cx="4740400" cy="5334900"/>
          </a:xfrm>
        </p:grpSpPr>
        <p:sp>
          <p:nvSpPr>
            <p:cNvPr id="626" name="Google Shape;626;p81"/>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27" name="Google Shape;627;p81"/>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628" name="Google Shape;628;p81"/>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629" name="Google Shape;629;p81"/>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VDS will take the lead in developing and delivering a comprehensive suite of coded UI components based on the existing VDS Conversational Expansion Pack [CONV]. This means production-ready, VDS-quality assets for all screen-based Assistant UIs, ensuring teams can build fast and consistently, with a planned handoff to the Conversational Dev team for long-term ownership.</a:t>
              </a:r>
              <a:endParaRPr sz="800">
                <a:solidFill>
                  <a:schemeClr val="dk1"/>
                </a:solidFill>
                <a:latin typeface="Verizon NHG TX"/>
                <a:ea typeface="Verizon NHG TX"/>
                <a:cs typeface="Verizon NHG TX"/>
                <a:sym typeface="Verizon NHG TX"/>
              </a:endParaRPr>
            </a:p>
          </p:txBody>
        </p:sp>
        <p:cxnSp>
          <p:nvCxnSpPr>
            <p:cNvPr id="630" name="Google Shape;630;p81"/>
            <p:cNvCxnSpPr/>
            <p:nvPr/>
          </p:nvCxnSpPr>
          <p:spPr>
            <a:xfrm>
              <a:off x="171425" y="33447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631" name="Google Shape;631;p81"/>
            <p:cNvGrpSpPr/>
            <p:nvPr/>
          </p:nvGrpSpPr>
          <p:grpSpPr>
            <a:xfrm>
              <a:off x="978796" y="3512288"/>
              <a:ext cx="3919804" cy="537187"/>
              <a:chOff x="978796" y="3131288"/>
              <a:chExt cx="3919804" cy="537187"/>
            </a:xfrm>
          </p:grpSpPr>
          <p:sp>
            <p:nvSpPr>
              <p:cNvPr id="632" name="Google Shape;632;p81"/>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Teams building Verizon Assistant screen experiences will get a massive upgrade. Developers gain access to robust, pre-built VDS components, slashing development time and ensuring consistency with design specs. Designers will see their vision for conversational UI flawlessly executed, enabling everyone to focus on innovation and user flow excellence.</a:t>
                </a:r>
                <a:endParaRPr sz="800">
                  <a:solidFill>
                    <a:schemeClr val="dk1"/>
                  </a:solidFill>
                  <a:latin typeface="Verizon NHG TX"/>
                  <a:ea typeface="Verizon NHG TX"/>
                  <a:cs typeface="Verizon NHG TX"/>
                  <a:sym typeface="Verizon NHG TX"/>
                </a:endParaRPr>
              </a:p>
            </p:txBody>
          </p:sp>
          <p:sp>
            <p:nvSpPr>
              <p:cNvPr id="633" name="Google Shape;633;p81"/>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634" name="Google Shape;634;p81"/>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635" name="Google Shape;635;p81"/>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636" name="Google Shape;636;p81"/>
            <p:cNvGrpSpPr/>
            <p:nvPr/>
          </p:nvGrpSpPr>
          <p:grpSpPr>
            <a:xfrm>
              <a:off x="978796" y="5159003"/>
              <a:ext cx="3919804" cy="566572"/>
              <a:chOff x="978796" y="3863603"/>
              <a:chExt cx="3919804" cy="566572"/>
            </a:xfrm>
          </p:grpSpPr>
          <p:sp>
            <p:nvSpPr>
              <p:cNvPr id="637" name="Google Shape;637;p81"/>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This investment will transform our Verizon Assistant into a consistently premium and engaging brand touchpoint on all screens. Expect faster deployment of new Assistant features, improved customer interaction quality, and significant development efficiencies. This solidifies Verizon's voice, enhances user trust, and boosts the ROI of our conversational AI strategy</a:t>
                </a:r>
                <a:endParaRPr sz="800">
                  <a:solidFill>
                    <a:schemeClr val="dk1"/>
                  </a:solidFill>
                  <a:latin typeface="Verizon NHG TX"/>
                  <a:ea typeface="Verizon NHG TX"/>
                  <a:cs typeface="Verizon NHG TX"/>
                  <a:sym typeface="Verizon NHG TX"/>
                </a:endParaRPr>
              </a:p>
            </p:txBody>
          </p:sp>
          <p:sp>
            <p:nvSpPr>
              <p:cNvPr id="638" name="Google Shape;638;p81"/>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639" name="Google Shape;639;p81"/>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640" name="Google Shape;640;p81"/>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641" name="Google Shape;641;p81"/>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2" name="Google Shape;642;p81"/>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643" name="Google Shape;643;p81"/>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644" name="Google Shape;644;p81"/>
          <p:cNvGrpSpPr/>
          <p:nvPr/>
        </p:nvGrpSpPr>
        <p:grpSpPr>
          <a:xfrm>
            <a:off x="6411375" y="2847169"/>
            <a:ext cx="2601225" cy="2162700"/>
            <a:chOff x="8548500" y="3796225"/>
            <a:chExt cx="3468300" cy="2883600"/>
          </a:xfrm>
        </p:grpSpPr>
        <p:sp>
          <p:nvSpPr>
            <p:cNvPr id="645" name="Google Shape;645;p81"/>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6" name="Google Shape;646;p81"/>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647" name="Google Shape;647;p81"/>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648" name="Google Shape;648;p81"/>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649" name="Google Shape;649;p81"/>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650" name="Google Shape;650;p81"/>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651" name="Google Shape;651;p81"/>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652" name="Google Shape;652;p81"/>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653" name="Google Shape;653;p81"/>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654" name="Google Shape;654;p81"/>
          <p:cNvSpPr/>
          <p:nvPr/>
        </p:nvSpPr>
        <p:spPr>
          <a:xfrm>
            <a:off x="7185619" y="1008713"/>
            <a:ext cx="18210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55" name="Google Shape;655;p81"/>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656" name="Google Shape;656;p81"/>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657" name="Google Shape;657;p81"/>
          <p:cNvGrpSpPr/>
          <p:nvPr/>
        </p:nvGrpSpPr>
        <p:grpSpPr>
          <a:xfrm>
            <a:off x="3790275" y="2847169"/>
            <a:ext cx="2519006" cy="2162700"/>
            <a:chOff x="5053700" y="3796225"/>
            <a:chExt cx="3358675" cy="2883600"/>
          </a:xfrm>
        </p:grpSpPr>
        <p:sp>
          <p:nvSpPr>
            <p:cNvPr id="658" name="Google Shape;658;p81"/>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59" name="Google Shape;659;p81"/>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cxnSp>
          <p:nvCxnSpPr>
            <p:cNvPr id="660" name="Google Shape;660;p81"/>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661" name="Google Shape;661;p81"/>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We’d like to empower every screen-based Verizon Assistant interaction with unparalleled quality and consistency. This initiative will deliver a VDS-developed component library that ensures our conversational UI is not just functional, but a truly seamless, on-brand, and delightful experience for customers on any device—mobile, tablet, or desktop.</a:t>
            </a:r>
            <a:endParaRPr sz="800">
              <a:solidFill>
                <a:schemeClr val="dk1"/>
              </a:solidFill>
              <a:latin typeface="Verizon NHG TX"/>
              <a:ea typeface="Verizon NHG TX"/>
              <a:cs typeface="Verizon NHG TX"/>
              <a:sym typeface="Verizon NHG TX"/>
            </a:endParaRPr>
          </a:p>
        </p:txBody>
      </p:sp>
      <p:sp>
        <p:nvSpPr>
          <p:cNvPr id="662" name="Google Shape;662;p81"/>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663" name="Google Shape;663;p81"/>
          <p:cNvSpPr/>
          <p:nvPr/>
        </p:nvSpPr>
        <p:spPr>
          <a:xfrm>
            <a:off x="5118037" y="3588749"/>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Digital Interaction Score</a:t>
            </a:r>
            <a:endParaRPr sz="1000">
              <a:solidFill>
                <a:srgbClr val="FFFFFF"/>
              </a:solidFill>
              <a:latin typeface="Verizon NHG TX"/>
              <a:ea typeface="Verizon NHG TX"/>
              <a:cs typeface="Verizon NHG TX"/>
              <a:sym typeface="Verizon NHG TX"/>
            </a:endParaRPr>
          </a:p>
        </p:txBody>
      </p:sp>
      <p:sp>
        <p:nvSpPr>
          <p:cNvPr id="664" name="Google Shape;664;p81"/>
          <p:cNvSpPr/>
          <p:nvPr/>
        </p:nvSpPr>
        <p:spPr>
          <a:xfrm>
            <a:off x="3931075" y="3588740"/>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Customer Satisfaction</a:t>
            </a:r>
            <a:endParaRPr sz="1000">
              <a:solidFill>
                <a:srgbClr val="FFFFFF"/>
              </a:solidFill>
              <a:latin typeface="Verizon NHG TX"/>
              <a:ea typeface="Verizon NHG TX"/>
              <a:cs typeface="Verizon NHG TX"/>
              <a:sym typeface="Verizon NHG TX"/>
            </a:endParaRPr>
          </a:p>
        </p:txBody>
      </p:sp>
      <p:sp>
        <p:nvSpPr>
          <p:cNvPr id="665" name="Google Shape;665;p81"/>
          <p:cNvSpPr/>
          <p:nvPr/>
        </p:nvSpPr>
        <p:spPr>
          <a:xfrm>
            <a:off x="3931050" y="4132315"/>
            <a:ext cx="22362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Other Cost Savings</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2"/>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Support &amp; Feedback</a:t>
            </a:r>
            <a:br>
              <a:rPr b="1" i="1"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Developers will benefit from our VDS Conversational  support channels, including a responsive Slack community and VDS team office hours.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671" name="Google Shape;671;p82"/>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React Coded Components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Developers will primarily utilize our production-ready VDS Coded Components for React development.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The impact is a dramatic reduction in conversational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672" name="Google Shape;672;p82"/>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 VDS Conversational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sp>
        <p:nvSpPr>
          <p:cNvPr id="673" name="Google Shape;673;p82"/>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a:t>
            </a:r>
            <a:r>
              <a:rPr b="1" lang="en" sz="2100">
                <a:latin typeface="Verizon NHG DS"/>
                <a:ea typeface="Verizon NHG DS"/>
                <a:cs typeface="Verizon NHG DS"/>
                <a:sym typeface="Verizon NHG DS"/>
              </a:rPr>
              <a:t> </a:t>
            </a:r>
            <a:r>
              <a:rPr b="1" lang="en" sz="2100">
                <a:solidFill>
                  <a:srgbClr val="EE001E"/>
                </a:solidFill>
                <a:latin typeface="Verizon NHG DS"/>
                <a:ea typeface="Verizon NHG DS"/>
                <a:cs typeface="Verizon NHG DS"/>
                <a:sym typeface="Verizon NHG DS"/>
              </a:rPr>
              <a:t>Conversational Expansion</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674" name="Google Shape;674;p82"/>
          <p:cNvSpPr txBox="1"/>
          <p:nvPr/>
        </p:nvSpPr>
        <p:spPr>
          <a:xfrm>
            <a:off x="455851" y="40085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a:t>
            </a:r>
            <a:endParaRPr sz="900">
              <a:latin typeface="Verizon NHG TX"/>
              <a:ea typeface="Verizon NHG TX"/>
              <a:cs typeface="Verizon NHG TX"/>
              <a:sym typeface="Verizon NHG TX"/>
            </a:endParaRPr>
          </a:p>
        </p:txBody>
      </p:sp>
      <p:pic>
        <p:nvPicPr>
          <p:cNvPr descr="placeholder image that uses icon representative of a design system" id="675" name="Google Shape;675;p82"/>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676" name="Google Shape;676;p82"/>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677" name="Google Shape;677;p82"/>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rgbClr val="000000"/>
            </a:solidFill>
            <a:prstDash val="solid"/>
            <a:round/>
            <a:headEnd len="sm" w="sm" type="none"/>
            <a:tailEnd len="sm" w="sm" type="none"/>
          </a:ln>
        </p:spPr>
      </p:pic>
      <p:pic>
        <p:nvPicPr>
          <p:cNvPr id="678" name="Google Shape;678;p82"/>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679" name="Google Shape;679;p82"/>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680" name="Google Shape;680;p82"/>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8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87" name="Google Shape;687;p83"/>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t>
            </a:r>
            <a:br>
              <a:rPr lang="en" sz="2100">
                <a:latin typeface="Verizon NHG DS"/>
                <a:ea typeface="Verizon NHG DS"/>
                <a:cs typeface="Verizon NHG DS"/>
                <a:sym typeface="Verizon NHG DS"/>
              </a:rPr>
            </a:br>
            <a:r>
              <a:rPr lang="en" sz="2100">
                <a:latin typeface="Verizon NHG DS"/>
                <a:ea typeface="Verizon NHG DS"/>
                <a:cs typeface="Verizon NHG DS"/>
                <a:sym typeface="Verizon NHG DS"/>
              </a:rPr>
              <a:t>Conversational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688" name="Google Shape;688;p83"/>
          <p:cNvSpPr txBox="1"/>
          <p:nvPr/>
        </p:nvSpPr>
        <p:spPr>
          <a:xfrm>
            <a:off x="508700" y="3486413"/>
            <a:ext cx="3606900" cy="111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We’d like to empower every screen-based Verizon Assistant interaction with unparalleled quality and consistency. This initiative will deliver a VDS-developed component library that ensures our conversational UI is not just functional, but a truly seamless, on-brand, and delightful experience for customers on any device—mobile, tablet, or desktop.</a:t>
            </a:r>
            <a:endParaRPr b="0" i="0" sz="1100" u="none" cap="none" strike="noStrike">
              <a:solidFill>
                <a:srgbClr val="1F1F1F"/>
              </a:solidFill>
              <a:latin typeface="Verizon NHG DS"/>
              <a:ea typeface="Verizon NHG DS"/>
              <a:cs typeface="Verizon NHG DS"/>
              <a:sym typeface="Verizon NHG DS"/>
            </a:endParaRPr>
          </a:p>
        </p:txBody>
      </p:sp>
      <p:sp>
        <p:nvSpPr>
          <p:cNvPr id="689" name="Google Shape;689;p83"/>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While we have design guidance for the Verizon Assistant, our teams lack a centralized library of VDS-developed coded UI components for its screen interactions. This forces redundant effort, risks visual and behavioral inconsistencies across platforms, slows down innovation in conversational AI, and ultimately dilutes the Assistant's brand power.</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VDS will take the lead in developing and delivering a comprehensive suite of coded UI components based on the existing VDS Conversational Expansion Pack [CONV]. This means production-ready, VDS-quality assets for all screen-based Assistant UIs, ensuring teams can build fast and consistently, with a planned handoff to the Conversational Dev team for long-term ownership.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Teams building Verizon Assistant screen experiences will get a massive upgrade. Developers gain access to robust, pre-built VDS components, slashing development time and ensuring consistency with design specs. Designers will see their vision for conversational UI flawlessly executed, enabling everyone to focus on innovation and user flow excellence.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investment will transform our Verizon Assistant into a consistently premium and engaging brand touchpoint on all screens. Expect faster deployment of new Assistant features, improved customer interaction quality, and significant development efficiencies. This solidifies Verizon's voice, enhances user trust, and boosts the ROI of our conversational AI strategy.</a:t>
            </a:r>
            <a:endParaRPr b="1" sz="1500">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690" name="Google Shape;690;p83"/>
          <p:cNvGrpSpPr/>
          <p:nvPr/>
        </p:nvGrpSpPr>
        <p:grpSpPr>
          <a:xfrm>
            <a:off x="1601419" y="377006"/>
            <a:ext cx="1421550" cy="1393875"/>
            <a:chOff x="2135225" y="502675"/>
            <a:chExt cx="1895400" cy="1858500"/>
          </a:xfrm>
        </p:grpSpPr>
        <p:sp>
          <p:nvSpPr>
            <p:cNvPr id="691" name="Google Shape;691;p83"/>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692" name="Google Shape;692;p83"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693" name="Google Shape;693;p83"/>
          <p:cNvGrpSpPr/>
          <p:nvPr/>
        </p:nvGrpSpPr>
        <p:grpSpPr>
          <a:xfrm>
            <a:off x="6893719" y="154838"/>
            <a:ext cx="2104650" cy="212400"/>
            <a:chOff x="9242425" y="104850"/>
            <a:chExt cx="2806200" cy="283200"/>
          </a:xfrm>
        </p:grpSpPr>
        <p:sp>
          <p:nvSpPr>
            <p:cNvPr id="694" name="Google Shape;694;p83"/>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695" name="Google Shape;695;p83"/>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696" name="Google Shape;696;p83"/>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703" name="Google Shape;703;p84"/>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704" name="Google Shape;704;p84"/>
          <p:cNvGraphicFramePr/>
          <p:nvPr/>
        </p:nvGraphicFramePr>
        <p:xfrm>
          <a:off x="429394" y="1230450"/>
          <a:ext cx="3000000" cy="3000000"/>
        </p:xfrm>
        <a:graphic>
          <a:graphicData uri="http://schemas.openxmlformats.org/drawingml/2006/table">
            <a:tbl>
              <a:tblPr>
                <a:noFill/>
                <a:tableStyleId>{08AE7D56-3E42-4067-AACA-77C4D7927B7B}</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705" name="Google Shape;705;p84"/>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706" name="Google Shape;706;p84"/>
          <p:cNvGraphicFramePr/>
          <p:nvPr/>
        </p:nvGraphicFramePr>
        <p:xfrm>
          <a:off x="4665081" y="1230450"/>
          <a:ext cx="3000000" cy="3000000"/>
        </p:xfrm>
        <a:graphic>
          <a:graphicData uri="http://schemas.openxmlformats.org/drawingml/2006/table">
            <a:tbl>
              <a:tblPr>
                <a:noFill/>
                <a:tableStyleId>{08AE7D56-3E42-4067-AACA-77C4D7927B7B}</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707" name="Google Shape;707;p84"/>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708" name="Google Shape;708;p84"/>
          <p:cNvGrpSpPr/>
          <p:nvPr/>
        </p:nvGrpSpPr>
        <p:grpSpPr>
          <a:xfrm>
            <a:off x="6665119" y="154838"/>
            <a:ext cx="2104650" cy="212400"/>
            <a:chOff x="9242425" y="104850"/>
            <a:chExt cx="2806200" cy="283200"/>
          </a:xfrm>
        </p:grpSpPr>
        <p:sp>
          <p:nvSpPr>
            <p:cNvPr id="709" name="Google Shape;709;p84"/>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710" name="Google Shape;710;p84"/>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711" name="Google Shape;711;p84"/>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5"/>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AI Tooling</a:t>
            </a:r>
            <a:endParaRPr sz="2800"/>
          </a:p>
        </p:txBody>
      </p:sp>
      <p:sp>
        <p:nvSpPr>
          <p:cNvPr id="718" name="Google Shape;718;p85"/>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
              <a:t>Andrew Pendleton</a:t>
            </a:r>
            <a:endParaRPr/>
          </a:p>
          <a:p>
            <a:pPr indent="0" lvl="0" marL="0" rtl="0" algn="l">
              <a:spcBef>
                <a:spcPts val="0"/>
              </a:spcBef>
              <a:spcAft>
                <a:spcPts val="0"/>
              </a:spcAft>
              <a:buSzPts val="1800"/>
              <a:buNone/>
            </a:pPr>
            <a:r>
              <a:rPr lang="en"/>
              <a:t>CX Design Systems</a:t>
            </a:r>
            <a:endParaRPr/>
          </a:p>
        </p:txBody>
      </p:sp>
      <p:sp>
        <p:nvSpPr>
          <p:cNvPr id="719" name="Google Shape;719;p85"/>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720" name="Google Shape;720;p85"/>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721" name="Google Shape;721;p85"/>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6" name="Shape 726"/>
        <p:cNvGrpSpPr/>
        <p:nvPr/>
      </p:nvGrpSpPr>
      <p:grpSpPr>
        <a:xfrm>
          <a:off x="0" y="0"/>
          <a:ext cx="0" cy="0"/>
          <a:chOff x="0" y="0"/>
          <a:chExt cx="0" cy="0"/>
        </a:xfrm>
      </p:grpSpPr>
      <p:sp>
        <p:nvSpPr>
          <p:cNvPr id="727" name="Google Shape;727;p86"/>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728" name="Google Shape;728;p86"/>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729" name="Google Shape;729;p86"/>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730" name="Google Shape;730;p86"/>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chemeClr val="accent6"/>
                </a:solidFill>
                <a:latin typeface="Verizon NHG DS"/>
                <a:ea typeface="Verizon NHG DS"/>
                <a:cs typeface="Verizon NHG DS"/>
                <a:sym typeface="Verizon NHG DS"/>
              </a:rPr>
              <a:t>AI Tooling</a:t>
            </a:r>
            <a:endParaRPr b="1" sz="2100">
              <a:solidFill>
                <a:srgbClr val="EE001E"/>
              </a:solidFill>
              <a:latin typeface="Verizon NHG DS"/>
              <a:ea typeface="Verizon NHG DS"/>
              <a:cs typeface="Verizon NHG DS"/>
              <a:sym typeface="Verizon NHG DS"/>
            </a:endParaRPr>
          </a:p>
        </p:txBody>
      </p:sp>
      <p:grpSp>
        <p:nvGrpSpPr>
          <p:cNvPr id="731" name="Google Shape;731;p86"/>
          <p:cNvGrpSpPr/>
          <p:nvPr/>
        </p:nvGrpSpPr>
        <p:grpSpPr>
          <a:xfrm>
            <a:off x="128569" y="1008713"/>
            <a:ext cx="3555300" cy="4001175"/>
            <a:chOff x="171425" y="1344950"/>
            <a:chExt cx="4740400" cy="5334900"/>
          </a:xfrm>
        </p:grpSpPr>
        <p:sp>
          <p:nvSpPr>
            <p:cNvPr id="732" name="Google Shape;732;p86"/>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33" name="Google Shape;733;p86"/>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734" name="Google Shape;734;p86"/>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735" name="Google Shape;735;p86"/>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Introducing VDS AI Tooling: A suite of intelligent assistants! A Figma plugin (VDS Design Assistant) and VS Code extension (VDS Dev Assistant) will provide instant, in-context access to VDS components, guidelines, and an AI chatbot. Plus, a powerful Similarity Engine will automate visual audits and unlock new design capabilities.</a:t>
              </a:r>
              <a:endParaRPr sz="800">
                <a:solidFill>
                  <a:schemeClr val="dk1"/>
                </a:solidFill>
                <a:latin typeface="Verizon NHG TX"/>
                <a:ea typeface="Verizon NHG TX"/>
                <a:cs typeface="Verizon NHG TX"/>
                <a:sym typeface="Verizon NHG TX"/>
              </a:endParaRPr>
            </a:p>
          </p:txBody>
        </p:sp>
        <p:cxnSp>
          <p:nvCxnSpPr>
            <p:cNvPr id="736" name="Google Shape;736;p86"/>
            <p:cNvCxnSpPr/>
            <p:nvPr/>
          </p:nvCxnSpPr>
          <p:spPr>
            <a:xfrm>
              <a:off x="171425" y="32431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737" name="Google Shape;737;p86"/>
            <p:cNvGrpSpPr/>
            <p:nvPr/>
          </p:nvGrpSpPr>
          <p:grpSpPr>
            <a:xfrm>
              <a:off x="978796" y="3512288"/>
              <a:ext cx="3919804" cy="537187"/>
              <a:chOff x="978796" y="3131288"/>
              <a:chExt cx="3919804" cy="537187"/>
            </a:xfrm>
          </p:grpSpPr>
          <p:sp>
            <p:nvSpPr>
              <p:cNvPr id="738" name="Google Shape;738;p86"/>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Designers &amp; developers get a VDS AI co-pilot! They'll access VDS assets &amp; answers instantly within Figma/VS Code, slashing friction &amp; search time. Expect unprecedented efficiency, faster onboarding, higher quality outputs, and greater confidence in applying VDS correctly. This means more time creating, less time wrestling with tools or seeking help.</a:t>
                </a:r>
                <a:endParaRPr sz="800">
                  <a:solidFill>
                    <a:schemeClr val="dk1"/>
                  </a:solidFill>
                  <a:latin typeface="Verizon NHG TX"/>
                  <a:ea typeface="Verizon NHG TX"/>
                  <a:cs typeface="Verizon NHG TX"/>
                  <a:sym typeface="Verizon NHG TX"/>
                </a:endParaRPr>
              </a:p>
            </p:txBody>
          </p:sp>
          <p:sp>
            <p:nvSpPr>
              <p:cNvPr id="739" name="Google Shape;739;p86"/>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740" name="Google Shape;740;p86"/>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741" name="Google Shape;741;p86"/>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742" name="Google Shape;742;p86"/>
            <p:cNvGrpSpPr/>
            <p:nvPr/>
          </p:nvGrpSpPr>
          <p:grpSpPr>
            <a:xfrm>
              <a:off x="978796" y="5159003"/>
              <a:ext cx="3919804" cy="566572"/>
              <a:chOff x="978796" y="3863603"/>
              <a:chExt cx="3919804" cy="566572"/>
            </a:xfrm>
          </p:grpSpPr>
          <p:sp>
            <p:nvSpPr>
              <p:cNvPr id="743" name="Google Shape;743;p86"/>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VDS AI Tooling will ignite development speed, dramatically cut VDS support costs, and elevate product quality &amp; consistency across all Verizon experiences. By automating tedious tasks like visual audits and providing intelligent support, we unlock significant efficiency gains, accelerate innovation, and amplify the ROI of our entire VDS ecosystem.</a:t>
                </a:r>
                <a:endParaRPr sz="800">
                  <a:solidFill>
                    <a:schemeClr val="dk1"/>
                  </a:solidFill>
                  <a:latin typeface="Verizon NHG TX"/>
                  <a:ea typeface="Verizon NHG TX"/>
                  <a:cs typeface="Verizon NHG TX"/>
                  <a:sym typeface="Verizon NHG TX"/>
                </a:endParaRPr>
              </a:p>
            </p:txBody>
          </p:sp>
          <p:sp>
            <p:nvSpPr>
              <p:cNvPr id="744" name="Google Shape;744;p86"/>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745" name="Google Shape;745;p86"/>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746" name="Google Shape;746;p86"/>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747" name="Google Shape;747;p86"/>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48" name="Google Shape;748;p86"/>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749" name="Google Shape;749;p86"/>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750" name="Google Shape;750;p86"/>
          <p:cNvGrpSpPr/>
          <p:nvPr/>
        </p:nvGrpSpPr>
        <p:grpSpPr>
          <a:xfrm>
            <a:off x="6411375" y="2847169"/>
            <a:ext cx="2601225" cy="2162700"/>
            <a:chOff x="8548500" y="3796225"/>
            <a:chExt cx="3468300" cy="2883600"/>
          </a:xfrm>
        </p:grpSpPr>
        <p:sp>
          <p:nvSpPr>
            <p:cNvPr id="751" name="Google Shape;751;p86"/>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52" name="Google Shape;752;p86"/>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753" name="Google Shape;753;p86"/>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754" name="Google Shape;754;p86"/>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755" name="Google Shape;755;p86"/>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756" name="Google Shape;756;p86"/>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757" name="Google Shape;757;p86"/>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758" name="Google Shape;758;p86"/>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759" name="Google Shape;759;p86"/>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760" name="Google Shape;760;p86"/>
          <p:cNvSpPr/>
          <p:nvPr/>
        </p:nvSpPr>
        <p:spPr>
          <a:xfrm>
            <a:off x="7185619" y="1008713"/>
            <a:ext cx="18210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61" name="Google Shape;761;p86"/>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762" name="Google Shape;762;p86"/>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763" name="Google Shape;763;p86"/>
          <p:cNvGrpSpPr/>
          <p:nvPr/>
        </p:nvGrpSpPr>
        <p:grpSpPr>
          <a:xfrm>
            <a:off x="3790275" y="2847169"/>
            <a:ext cx="2519006" cy="2162700"/>
            <a:chOff x="5053700" y="3796225"/>
            <a:chExt cx="3358675" cy="2883600"/>
          </a:xfrm>
        </p:grpSpPr>
        <p:sp>
          <p:nvSpPr>
            <p:cNvPr id="764" name="Google Shape;764;p86"/>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65" name="Google Shape;765;p86"/>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sp>
          <p:nvSpPr>
            <p:cNvPr id="766" name="Google Shape;766;p86"/>
            <p:cNvSpPr/>
            <p:nvPr/>
          </p:nvSpPr>
          <p:spPr>
            <a:xfrm>
              <a:off x="5249910" y="4716967"/>
              <a:ext cx="29964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Other Cost Savings</a:t>
              </a:r>
              <a:endParaRPr sz="1000">
                <a:solidFill>
                  <a:schemeClr val="lt1"/>
                </a:solidFill>
                <a:latin typeface="Verizon NHG TX"/>
                <a:ea typeface="Verizon NHG TX"/>
                <a:cs typeface="Verizon NHG TX"/>
                <a:sym typeface="Verizon NHG TX"/>
              </a:endParaRPr>
            </a:p>
          </p:txBody>
        </p:sp>
        <p:cxnSp>
          <p:nvCxnSpPr>
            <p:cNvPr id="767" name="Google Shape;767;p86"/>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768" name="Google Shape;768;p86"/>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Revolutionizing how teams build by embedding AI-powered VDS intelligence directly into design and development workflows. Transforming VDS into an intuitive, proactive AI partner in Figma &amp; VS Code, ensuring effortless adoption, perfect consistency, and supercharged productivity for every user, on every project.</a:t>
            </a:r>
            <a:endParaRPr sz="900">
              <a:solidFill>
                <a:schemeClr val="dk1"/>
              </a:solidFill>
              <a:latin typeface="Verizon NHG TX"/>
              <a:ea typeface="Verizon NHG TX"/>
              <a:cs typeface="Verizon NHG TX"/>
              <a:sym typeface="Verizon NHG TX"/>
            </a:endParaRPr>
          </a:p>
        </p:txBody>
      </p:sp>
      <p:sp>
        <p:nvSpPr>
          <p:cNvPr id="769" name="Google Shape;769;p86"/>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7"/>
          <p:cNvSpPr txBox="1"/>
          <p:nvPr/>
        </p:nvSpPr>
        <p:spPr>
          <a:xfrm>
            <a:off x="6203366" y="24002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Similarity Engine</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An AI tool that scans the CX Design Figma workspace to quickly find duplicate, inconsistent, or off-brand components.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will enable the VDS team to spot patterns, clean up design drift, and keep experience design work  aligned with minimal manual audits. </a:t>
            </a:r>
            <a:br>
              <a:rPr lang="en" sz="800">
                <a:solidFill>
                  <a:schemeClr val="dk1"/>
                </a:solidFill>
                <a:latin typeface="Verizon NHG DS"/>
                <a:ea typeface="Verizon NHG DS"/>
                <a:cs typeface="Verizon NHG DS"/>
                <a:sym typeface="Verizon NHG DS"/>
              </a:rPr>
            </a:br>
            <a:br>
              <a:rPr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This engine will also be able to power other AI tools for adopters by providing accurate, real-time design pattern data—fueling assistants that </a:t>
            </a:r>
            <a:r>
              <a:rPr b="1" lang="en" sz="800">
                <a:solidFill>
                  <a:schemeClr val="dk1"/>
                </a:solidFill>
                <a:latin typeface="Verizon NHG DS"/>
                <a:ea typeface="Verizon NHG DS"/>
                <a:cs typeface="Verizon NHG DS"/>
                <a:sym typeface="Verizon NHG DS"/>
              </a:rPr>
              <a:t>suggest the right components</a:t>
            </a:r>
            <a:r>
              <a:rPr lang="en" sz="800">
                <a:solidFill>
                  <a:schemeClr val="dk1"/>
                </a:solidFill>
                <a:latin typeface="Verizon NHG DS"/>
                <a:ea typeface="Verizon NHG DS"/>
                <a:cs typeface="Verizon NHG DS"/>
                <a:sym typeface="Verizon NHG DS"/>
              </a:rPr>
              <a:t>, </a:t>
            </a:r>
            <a:r>
              <a:rPr b="1" lang="en" sz="800">
                <a:solidFill>
                  <a:schemeClr val="dk1"/>
                </a:solidFill>
                <a:latin typeface="Verizon NHG DS"/>
                <a:ea typeface="Verizon NHG DS"/>
                <a:cs typeface="Verizon NHG DS"/>
                <a:sym typeface="Verizon NHG DS"/>
              </a:rPr>
              <a:t>flag inconsistencies</a:t>
            </a:r>
            <a:r>
              <a:rPr lang="en" sz="800">
                <a:solidFill>
                  <a:schemeClr val="dk1"/>
                </a:solidFill>
                <a:latin typeface="Verizon NHG DS"/>
                <a:ea typeface="Verizon NHG DS"/>
                <a:cs typeface="Verizon NHG DS"/>
                <a:sym typeface="Verizon NHG DS"/>
              </a:rPr>
              <a:t>, or </a:t>
            </a:r>
            <a:r>
              <a:rPr b="1" lang="en" sz="800">
                <a:solidFill>
                  <a:schemeClr val="dk1"/>
                </a:solidFill>
                <a:latin typeface="Verizon NHG DS"/>
                <a:ea typeface="Verizon NHG DS"/>
                <a:cs typeface="Verizon NHG DS"/>
                <a:sym typeface="Verizon NHG DS"/>
              </a:rPr>
              <a:t>automate VQA </a:t>
            </a:r>
            <a:r>
              <a:rPr lang="en" sz="800">
                <a:solidFill>
                  <a:schemeClr val="dk1"/>
                </a:solidFill>
                <a:latin typeface="Verizon NHG DS"/>
                <a:ea typeface="Verizon NHG DS"/>
                <a:cs typeface="Verizon NHG DS"/>
                <a:sym typeface="Verizon NHG DS"/>
              </a:rPr>
              <a:t>during design and development.</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higher quality and consistency across the entire Verizon ecosystem at scale.</a:t>
            </a:r>
            <a:endParaRPr b="1" i="0" sz="800" u="none" cap="none" strike="noStrike">
              <a:solidFill>
                <a:srgbClr val="000000"/>
              </a:solidFill>
              <a:latin typeface="Verizon NHG DS"/>
              <a:ea typeface="Verizon NHG DS"/>
              <a:cs typeface="Verizon NHG DS"/>
              <a:sym typeface="Verizon NHG DS"/>
            </a:endParaRPr>
          </a:p>
        </p:txBody>
      </p:sp>
      <p:sp>
        <p:nvSpPr>
          <p:cNvPr id="775" name="Google Shape;775;p87"/>
          <p:cNvSpPr txBox="1"/>
          <p:nvPr/>
        </p:nvSpPr>
        <p:spPr>
          <a:xfrm>
            <a:off x="3338625" y="2400296"/>
            <a:ext cx="263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VDS Development Assistant</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Running in VS Code, our devs’ natural habitat, the VDS Developer Assistant autocompletes imports, shows prop examples, and warns when code veers off spec or a newer component version is available.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It trims setup and PR cleanup, letting engineers focus on features while knowing their build will pass design-system checks the first time.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Built-in support for test frameworks and CI hooks drops seamlessly into existing pipelines with almost no extra setup.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cleaner merges, fewer late-stage bugs, and faster releases that look and behave exactly as intended.</a:t>
            </a:r>
            <a:endParaRPr b="1" i="0" sz="800" u="none" cap="none" strike="noStrike">
              <a:solidFill>
                <a:srgbClr val="000000"/>
              </a:solidFill>
              <a:latin typeface="Verizon NHG DS"/>
              <a:ea typeface="Verizon NHG DS"/>
              <a:cs typeface="Verizon NHG DS"/>
              <a:sym typeface="Verizon NHG DS"/>
            </a:endParaRPr>
          </a:p>
        </p:txBody>
      </p:sp>
      <p:sp>
        <p:nvSpPr>
          <p:cNvPr id="776" name="Google Shape;776;p87"/>
          <p:cNvSpPr txBox="1"/>
          <p:nvPr/>
        </p:nvSpPr>
        <p:spPr>
          <a:xfrm>
            <a:off x="456075" y="24002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VDS Design Assistant</a:t>
            </a:r>
            <a:endParaRPr b="1" i="1" sz="800">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Sitting right inside Figma, the VDS Design Assistant watches what you’re drawing and quietly points you to the exact component, token, or spacing rule that fits, then flags anything that drifts.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It cuts the back-and-forth review cycle to minutes, so designers spend more time exploring ideas and less time hunting for “the right way.”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Over time it learns from real projects, so its nudges get sharper without adding noise.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b="1" lang="en" sz="800">
                <a:latin typeface="Verizon NHG DS"/>
                <a:ea typeface="Verizon NHG DS"/>
                <a:cs typeface="Verizon NHG DS"/>
                <a:sym typeface="Verizon NHG DS"/>
              </a:rPr>
              <a:t>Impact: </a:t>
            </a:r>
            <a:r>
              <a:rPr lang="en" sz="800">
                <a:latin typeface="Verizon NHG DS"/>
                <a:ea typeface="Verizon NHG DS"/>
                <a:cs typeface="Verizon NHG DS"/>
                <a:sym typeface="Verizon NHG DS"/>
              </a:rPr>
              <a:t>Smoother hand-offs and consistently on-brand interfaces, without extra meetings or retraining.</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t/>
            </a:r>
            <a:endParaRPr sz="800">
              <a:latin typeface="Verizon NHG DS"/>
              <a:ea typeface="Verizon NHG DS"/>
              <a:cs typeface="Verizon NHG DS"/>
              <a:sym typeface="Verizon NHG DS"/>
            </a:endParaRPr>
          </a:p>
        </p:txBody>
      </p:sp>
      <p:sp>
        <p:nvSpPr>
          <p:cNvPr id="777" name="Google Shape;777;p87"/>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a:t>
            </a:r>
            <a:r>
              <a:rPr b="1" lang="en" sz="2100">
                <a:latin typeface="Verizon NHG DS"/>
                <a:ea typeface="Verizon NHG DS"/>
                <a:cs typeface="Verizon NHG DS"/>
                <a:sym typeface="Verizon NHG DS"/>
              </a:rPr>
              <a:t>| </a:t>
            </a:r>
            <a:r>
              <a:rPr b="1" lang="en" sz="2100">
                <a:solidFill>
                  <a:srgbClr val="EE001E"/>
                </a:solidFill>
                <a:latin typeface="Verizon NHG DS"/>
                <a:ea typeface="Verizon NHG DS"/>
                <a:cs typeface="Verizon NHG DS"/>
                <a:sym typeface="Verizon NHG DS"/>
              </a:rPr>
              <a:t>AI Tooling</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778" name="Google Shape;778;p87"/>
          <p:cNvSpPr txBox="1"/>
          <p:nvPr/>
        </p:nvSpPr>
        <p:spPr>
          <a:xfrm>
            <a:off x="476251" y="46910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Systems</a:t>
            </a:r>
            <a:endParaRPr sz="900">
              <a:latin typeface="Verizon NHG TX"/>
              <a:ea typeface="Verizon NHG TX"/>
              <a:cs typeface="Verizon NHG TX"/>
              <a:sym typeface="Verizon NHG TX"/>
            </a:endParaRPr>
          </a:p>
        </p:txBody>
      </p:sp>
      <p:sp>
        <p:nvSpPr>
          <p:cNvPr id="779" name="Google Shape;779;p87"/>
          <p:cNvSpPr/>
          <p:nvPr/>
        </p:nvSpPr>
        <p:spPr>
          <a:xfrm>
            <a:off x="6199593" y="1005175"/>
            <a:ext cx="2563200" cy="1232400"/>
          </a:xfrm>
          <a:prstGeom prst="rect">
            <a:avLst/>
          </a:prstGeom>
          <a:solidFill>
            <a:srgbClr val="F1F1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pic>
        <p:nvPicPr>
          <p:cNvPr descr="placeholder image that uses icon representative of a design system" id="780" name="Google Shape;780;p87"/>
          <p:cNvPicPr preferRelativeResize="0"/>
          <p:nvPr/>
        </p:nvPicPr>
        <p:blipFill rotWithShape="1">
          <a:blip r:embed="rId3">
            <a:alphaModFix/>
          </a:blip>
          <a:srcRect b="106857" l="-8952" r="-12850" t="-70345"/>
          <a:stretch/>
        </p:blipFill>
        <p:spPr>
          <a:xfrm>
            <a:off x="3345372" y="996750"/>
            <a:ext cx="2563478"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781" name="Google Shape;781;p87"/>
          <p:cNvPicPr preferRelativeResize="0"/>
          <p:nvPr/>
        </p:nvPicPr>
        <p:blipFill rotWithShape="1">
          <a:blip r:embed="rId3">
            <a:alphaModFix/>
          </a:blip>
          <a:srcRect b="22094" l="-8952" r="-12850" t="14418"/>
          <a:stretch/>
        </p:blipFill>
        <p:spPr>
          <a:xfrm>
            <a:off x="484447" y="996750"/>
            <a:ext cx="2563478" cy="1232403"/>
          </a:xfrm>
          <a:prstGeom prst="rect">
            <a:avLst/>
          </a:prstGeom>
          <a:noFill/>
          <a:ln cap="flat" cmpd="sng" w="9525">
            <a:solidFill>
              <a:schemeClr val="dk1"/>
            </a:solidFill>
            <a:prstDash val="solid"/>
            <a:round/>
            <a:headEnd len="sm" w="sm" type="none"/>
            <a:tailEnd len="sm" w="sm" type="none"/>
          </a:ln>
        </p:spPr>
      </p:pic>
      <p:pic>
        <p:nvPicPr>
          <p:cNvPr id="782" name="Google Shape;782;p87"/>
          <p:cNvPicPr preferRelativeResize="0"/>
          <p:nvPr/>
        </p:nvPicPr>
        <p:blipFill rotWithShape="1">
          <a:blip r:embed="rId4">
            <a:alphaModFix/>
          </a:blip>
          <a:srcRect b="0" l="-54210" r="-54210" t="0"/>
          <a:stretch/>
        </p:blipFill>
        <p:spPr>
          <a:xfrm>
            <a:off x="6206299" y="996750"/>
            <a:ext cx="2563475" cy="1232400"/>
          </a:xfrm>
          <a:prstGeom prst="rect">
            <a:avLst/>
          </a:prstGeom>
          <a:noFill/>
          <a:ln cap="flat" cmpd="sng" w="9525">
            <a:solidFill>
              <a:schemeClr val="dk1"/>
            </a:solidFill>
            <a:prstDash val="solid"/>
            <a:round/>
            <a:headEnd len="sm" w="sm" type="none"/>
            <a:tailEnd len="sm" w="sm" type="none"/>
          </a:ln>
        </p:spPr>
      </p:pic>
      <p:pic>
        <p:nvPicPr>
          <p:cNvPr id="783" name="Google Shape;783;p87"/>
          <p:cNvPicPr preferRelativeResize="0"/>
          <p:nvPr/>
        </p:nvPicPr>
        <p:blipFill>
          <a:blip r:embed="rId5">
            <a:alphaModFix/>
          </a:blip>
          <a:stretch>
            <a:fillRect/>
          </a:stretch>
        </p:blipFill>
        <p:spPr>
          <a:xfrm>
            <a:off x="1149988" y="996750"/>
            <a:ext cx="1232400" cy="1232400"/>
          </a:xfrm>
          <a:prstGeom prst="rect">
            <a:avLst/>
          </a:prstGeom>
          <a:noFill/>
          <a:ln>
            <a:noFill/>
          </a:ln>
        </p:spPr>
      </p:pic>
      <p:pic>
        <p:nvPicPr>
          <p:cNvPr id="784" name="Google Shape;784;p87"/>
          <p:cNvPicPr preferRelativeResize="0"/>
          <p:nvPr/>
        </p:nvPicPr>
        <p:blipFill>
          <a:blip r:embed="rId6">
            <a:alphaModFix/>
          </a:blip>
          <a:stretch>
            <a:fillRect/>
          </a:stretch>
        </p:blipFill>
        <p:spPr>
          <a:xfrm>
            <a:off x="4109750" y="1201350"/>
            <a:ext cx="924499" cy="8232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8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91" name="Google Shape;791;p88"/>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AI Tooling</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Operational Efficiency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792" name="Google Shape;792;p88"/>
          <p:cNvSpPr txBox="1"/>
          <p:nvPr/>
        </p:nvSpPr>
        <p:spPr>
          <a:xfrm>
            <a:off x="508700" y="3486413"/>
            <a:ext cx="3606900" cy="10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Revolutionizing how teams build by embedding AI-powered VDS intelligence directly into design and development workflows. Transforming VDS into an intuitive, proactive AI partner in Figma &amp; VS Code, ensuring effortless adoption, perfect consistency, and supercharged productivity for every user, on every project.</a:t>
            </a:r>
            <a:endParaRPr b="0" i="0" sz="1100" u="none" cap="none" strike="noStrike">
              <a:solidFill>
                <a:srgbClr val="1F1F1F"/>
              </a:solidFill>
              <a:latin typeface="Verizon NHG DS"/>
              <a:ea typeface="Verizon NHG DS"/>
              <a:cs typeface="Verizon NHG DS"/>
              <a:sym typeface="Verizon NHG DS"/>
            </a:endParaRPr>
          </a:p>
        </p:txBody>
      </p:sp>
      <p:sp>
        <p:nvSpPr>
          <p:cNvPr id="793" name="Google Shape;793;p88"/>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Today, using VDS involves manual searches, context switching for support in Slack, and tedious VDS team effort answering repetitive questions. This friction slows down our designers and developers, breeds inconsistency, and drains resources. Valuable time is lost on manual visual audits and VQA, delaying innovation and time-to-market.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AI Tooling: A suite of intelligent assistants! A Figma plugin (VDS Design Assistant) and VS Code extension (VDS Dev Assistant) will provide instant, in-context access to VDS components, guidelines, and an AI chatbot. Plus, a powerful Similarity Engine will automate visual audits and unlock new design capabilities.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Designers &amp; developers get a VDS AI co-pilot! They'll access VDS assets &amp; answers instantly within Figma/VS Code, slashing friction &amp; search time. Expect unprecedented efficiency, faster onboarding, higher quality outputs, and greater confidence in applying VDS correctly. This means more time creating, less time wrestling with tools or seeking help.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VDS AI Tooling will ignite development speed, dramatically cut VDS support costs, and elevate product quality &amp; consistency across all Verizon experiences. By automating tedious tasks like visual audits and providing intelligent support, we unlock significant efficiency gains, accelerate innovation, and amplify the ROI of our entire VDS ecosystem.</a:t>
            </a:r>
            <a:endParaRPr b="1" sz="800">
              <a:solidFill>
                <a:srgbClr val="EE001E"/>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794" name="Google Shape;794;p88"/>
          <p:cNvGrpSpPr/>
          <p:nvPr/>
        </p:nvGrpSpPr>
        <p:grpSpPr>
          <a:xfrm>
            <a:off x="1601419" y="377006"/>
            <a:ext cx="1421550" cy="1393875"/>
            <a:chOff x="2135225" y="502675"/>
            <a:chExt cx="1895400" cy="1858500"/>
          </a:xfrm>
        </p:grpSpPr>
        <p:sp>
          <p:nvSpPr>
            <p:cNvPr id="795" name="Google Shape;795;p88"/>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796" name="Google Shape;796;p88"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797" name="Google Shape;797;p88"/>
          <p:cNvGrpSpPr/>
          <p:nvPr/>
        </p:nvGrpSpPr>
        <p:grpSpPr>
          <a:xfrm>
            <a:off x="6893719" y="154838"/>
            <a:ext cx="2104650" cy="212400"/>
            <a:chOff x="9242425" y="104850"/>
            <a:chExt cx="2806200" cy="283200"/>
          </a:xfrm>
        </p:grpSpPr>
        <p:sp>
          <p:nvSpPr>
            <p:cNvPr id="798" name="Google Shape;798;p88"/>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799" name="Google Shape;799;p88"/>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800" name="Google Shape;800;p88"/>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8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807" name="Google Shape;807;p89"/>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808" name="Google Shape;808;p89"/>
          <p:cNvGraphicFramePr/>
          <p:nvPr/>
        </p:nvGraphicFramePr>
        <p:xfrm>
          <a:off x="429394" y="1230450"/>
          <a:ext cx="3000000" cy="3000000"/>
        </p:xfrm>
        <a:graphic>
          <a:graphicData uri="http://schemas.openxmlformats.org/drawingml/2006/table">
            <a:tbl>
              <a:tblPr>
                <a:noFill/>
                <a:tableStyleId>{08AE7D56-3E42-4067-AACA-77C4D7927B7B}</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809" name="Google Shape;809;p89"/>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810" name="Google Shape;810;p89"/>
          <p:cNvGraphicFramePr/>
          <p:nvPr/>
        </p:nvGraphicFramePr>
        <p:xfrm>
          <a:off x="4665081" y="1230450"/>
          <a:ext cx="3000000" cy="3000000"/>
        </p:xfrm>
        <a:graphic>
          <a:graphicData uri="http://schemas.openxmlformats.org/drawingml/2006/table">
            <a:tbl>
              <a:tblPr>
                <a:noFill/>
                <a:tableStyleId>{08AE7D56-3E42-4067-AACA-77C4D7927B7B}</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811" name="Google Shape;811;p89"/>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812" name="Google Shape;812;p89"/>
          <p:cNvGrpSpPr/>
          <p:nvPr/>
        </p:nvGrpSpPr>
        <p:grpSpPr>
          <a:xfrm>
            <a:off x="6665119" y="154838"/>
            <a:ext cx="2104650" cy="212400"/>
            <a:chOff x="9242425" y="104850"/>
            <a:chExt cx="2806200" cy="283200"/>
          </a:xfrm>
        </p:grpSpPr>
        <p:sp>
          <p:nvSpPr>
            <p:cNvPr id="813" name="Google Shape;813;p8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814" name="Google Shape;814;p89"/>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815" name="Google Shape;815;p89"/>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